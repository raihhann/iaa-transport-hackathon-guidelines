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147471705" r:id="rId5"/>
    <p:sldId id="2147471708" r:id="rId6"/>
    <p:sldId id="2147471727" r:id="rId7"/>
    <p:sldId id="2147471728" r:id="rId8"/>
    <p:sldId id="2147471729" r:id="rId9"/>
    <p:sldId id="2147471730" r:id="rId10"/>
    <p:sldId id="2147471731" r:id="rId11"/>
    <p:sldId id="2147471732" r:id="rId12"/>
    <p:sldId id="2147471734" r:id="rId13"/>
    <p:sldId id="2147471736" r:id="rId14"/>
    <p:sldId id="2147471737" r:id="rId15"/>
    <p:sldId id="214747173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7E35F79-3283-41D9-A495-67818717DC6A}">
          <p14:sldIdLst>
            <p14:sldId id="2147471705"/>
            <p14:sldId id="2147471708"/>
            <p14:sldId id="2147471727"/>
            <p14:sldId id="2147471728"/>
            <p14:sldId id="2147471729"/>
            <p14:sldId id="2147471730"/>
            <p14:sldId id="2147471731"/>
            <p14:sldId id="2147471732"/>
            <p14:sldId id="2147471734"/>
            <p14:sldId id="2147471736"/>
            <p14:sldId id="2147471737"/>
            <p14:sldId id="21474717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025"/>
    <a:srgbClr val="FFFFFF"/>
    <a:srgbClr val="55A856"/>
    <a:srgbClr val="6CC0D8"/>
    <a:srgbClr val="999999"/>
    <a:srgbClr val="CBCBCB"/>
    <a:srgbClr val="99B2C1"/>
    <a:srgbClr val="333333"/>
    <a:srgbClr val="666666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0" autoAdjust="0"/>
  </p:normalViewPr>
  <p:slideViewPr>
    <p:cSldViewPr snapToGrid="0" showGuides="1">
      <p:cViewPr varScale="1">
        <p:scale>
          <a:sx n="71" d="100"/>
          <a:sy n="71" d="100"/>
        </p:scale>
        <p:origin x="1032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, Chris - Ferdinand-Steinbeis-Institut" userId="8a301f47-303d-4894-a227-4215e1ab2347" providerId="ADAL" clId="{6C98E450-6765-4391-935C-E74B999E636C}"/>
    <pc:docChg chg="custSel modSld">
      <pc:chgData name="Cheng, Chris - Ferdinand-Steinbeis-Institut" userId="8a301f47-303d-4894-a227-4215e1ab2347" providerId="ADAL" clId="{6C98E450-6765-4391-935C-E74B999E636C}" dt="2026-09-14T20:03:43.447" v="82" actId="20577"/>
      <pc:docMkLst>
        <pc:docMk/>
      </pc:docMkLst>
      <pc:sldChg chg="modSp mod">
        <pc:chgData name="Cheng, Chris - Ferdinand-Steinbeis-Institut" userId="8a301f47-303d-4894-a227-4215e1ab2347" providerId="ADAL" clId="{6C98E450-6765-4391-935C-E74B999E636C}" dt="2026-09-14T20:03:43.447" v="82" actId="20577"/>
        <pc:sldMkLst>
          <pc:docMk/>
          <pc:sldMk cId="4019678914" sldId="2147471705"/>
        </pc:sldMkLst>
        <pc:spChg chg="mod">
          <ac:chgData name="Cheng, Chris - Ferdinand-Steinbeis-Institut" userId="8a301f47-303d-4894-a227-4215e1ab2347" providerId="ADAL" clId="{6C98E450-6765-4391-935C-E74B999E636C}" dt="2026-09-14T20:03:43.447" v="82" actId="20577"/>
          <ac:spMkLst>
            <pc:docMk/>
            <pc:sldMk cId="4019678914" sldId="2147471705"/>
            <ac:spMk id="5" creationId="{34784B8C-B0E6-D714-9A5D-BD73959A003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4669736-B220-463E-9A4B-519C4FD2B7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6D6609-5E6D-4FCF-91D2-BF30011FD1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ABB3A-35CB-431A-9B2A-8AAB52901192}" type="datetime1">
              <a:rPr lang="de-DE" smtClean="0"/>
              <a:t>14.09.2026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CA39B-4AD2-4F01-8D9E-1C0CFBE963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C76D32-22B1-4E50-8FC6-B63002A6E0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41BB1-DF29-4025-90FA-9CA9244247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871819"/>
      </p:ext>
    </p:extLst>
  </p:cSld>
  <p:clrMap bg1="lt1" tx1="dk1" bg2="lt2" tx2="dk2" accent1="accent1" accent2="accent2" accent3="accent3" accent4="accent4" accent5="accent5" accent6="accent6" hlink="hlink" folHlink="folHlink"/>
  <p:hf hdr="0" ft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7FCB-3797-4859-B7A5-01B8AB234739}" type="datetime1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657AB-C370-490D-9A4A-D69691DCA0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1680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Keyfacts</a:t>
            </a:r>
            <a:r>
              <a:rPr lang="de-DE" dirty="0"/>
              <a:t> Ferdinand Steinbeis Institut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Selbstverständnis: Wissenschaft/Forschung muss sowohl Gesellschaft und Wirtschaft einen Nutzen stiften (Real-World-Impact) als auch einen wissenschaftlichen Erkenntnisfortschritt bringen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Real-Welt-Phänomene sind interdisziplinär – verstehen, beschreiben und gestalten erfordert interdisziplinäres Team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Forschung mit Real-World-Impact erfordert Zusammenspiel von Kompetenzen des echten Lebens und der wissenschaftlichen Abstraktion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Erkenntisobjekt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Zukunftsfähige Wertschöpfung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Beobachtungen: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- Globale Wettbewerb verändert sich von Leistungsangebot zu Leistungsbündeln (Ökosysteme)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- Verlagerung von Wertschöpfung aus der Realität in die Virtualität (Wertschöpfung i.S.v. Reduktion von Knappheiten)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1B3D6A"/>
              </a:solidFill>
              <a:effectLst/>
              <a:uLnTx/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Dualität Wissenschaft - Wirtschaft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Interdisziplinäres Team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Ganzheitlicher Ansatz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Internationale Verortung im Industrial IoT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Consortium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 und im Digital Twin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Consortium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36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B3D6A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rPr>
              <a:t>Regionaler Impact durch Real-Welt-Implementierungen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127FCB-3797-4859-B7A5-01B8AB234739}" type="datetime1">
              <a:rPr lang="de-DE" smtClean="0"/>
              <a:t>14.09.2026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657AB-C370-490D-9A4A-D69691DCA00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11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3D2989AE-CFA4-2ADB-233E-F52D68878E00}"/>
              </a:ext>
            </a:extLst>
          </p:cNvPr>
          <p:cNvSpPr/>
          <p:nvPr userDrawn="1"/>
        </p:nvSpPr>
        <p:spPr>
          <a:xfrm>
            <a:off x="0" y="5984875"/>
            <a:ext cx="12192000" cy="87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500952DE-EB50-4DBA-0D6C-C30CD3C99A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152117"/>
            <a:ext cx="12192000" cy="5705884"/>
          </a:xfrm>
          <a:solidFill>
            <a:srgbClr val="44546A">
              <a:alpha val="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973C783D-DB89-3588-D9D7-7F845FA7AC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710688"/>
            <a:ext cx="7824787" cy="2282714"/>
          </a:xfrm>
          <a:solidFill>
            <a:schemeClr val="bg1">
              <a:alpha val="85000"/>
            </a:schemeClr>
          </a:solidFill>
        </p:spPr>
        <p:txBody>
          <a:bodyPr wrap="square" lIns="486000" tIns="360000" rIns="360000" bIns="360000" anchor="t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200" b="0">
                <a:solidFill>
                  <a:schemeClr val="tx1"/>
                </a:solidFill>
                <a:latin typeface="Montserrat Medium" panose="00000600000000000000" pitchFamily="2" charset="0"/>
              </a:defRPr>
            </a:lvl1pPr>
            <a:lvl2pPr marL="457200" indent="0">
              <a:lnSpc>
                <a:spcPts val="3520"/>
              </a:lnSpc>
              <a:spcAft>
                <a:spcPts val="1600"/>
              </a:spcAft>
              <a:buNone/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 marL="914400" indent="0">
              <a:lnSpc>
                <a:spcPct val="11000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lang="de-DE" sz="1600" kern="1200" dirty="0">
                <a:solidFill>
                  <a:schemeClr val="tx1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/>
              <a:t>Headline, Montserrat </a:t>
            </a:r>
            <a:r>
              <a:rPr lang="de-DE" err="1"/>
              <a:t>Med</a:t>
            </a:r>
            <a:r>
              <a:rPr lang="de-DE"/>
              <a:t>, 32 </a:t>
            </a:r>
            <a:r>
              <a:rPr lang="de-DE" err="1"/>
              <a:t>pt</a:t>
            </a:r>
            <a:endParaRPr lang="de-DE"/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err="1"/>
              <a:t>Subline</a:t>
            </a:r>
            <a:endParaRPr lang="de-DE"/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err="1"/>
              <a:t>Subline</a:t>
            </a:r>
            <a:r>
              <a:rPr lang="de-DE"/>
              <a:t>/Referent/Datum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653BA40-CEA6-81A4-24DC-F691F8CA670B}"/>
              </a:ext>
            </a:extLst>
          </p:cNvPr>
          <p:cNvSpPr/>
          <p:nvPr userDrawn="1"/>
        </p:nvSpPr>
        <p:spPr>
          <a:xfrm>
            <a:off x="0" y="1085850"/>
            <a:ext cx="12192000" cy="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3918E7-15C7-B347-512E-8B1804CC115B}"/>
              </a:ext>
            </a:extLst>
          </p:cNvPr>
          <p:cNvGrpSpPr/>
          <p:nvPr userDrawn="1"/>
        </p:nvGrpSpPr>
        <p:grpSpPr>
          <a:xfrm>
            <a:off x="0" y="1106398"/>
            <a:ext cx="12191999" cy="45719"/>
            <a:chOff x="0" y="1161937"/>
            <a:chExt cx="12191699" cy="1080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D93EB9E-B0E8-4069-657C-6BB0083E7273}"/>
                </a:ext>
              </a:extLst>
            </p:cNvPr>
            <p:cNvSpPr/>
            <p:nvPr userDrawn="1"/>
          </p:nvSpPr>
          <p:spPr>
            <a:xfrm>
              <a:off x="0" y="1161937"/>
              <a:ext cx="4028976" cy="108000"/>
            </a:xfrm>
            <a:prstGeom prst="rect">
              <a:avLst/>
            </a:prstGeom>
            <a:solidFill>
              <a:srgbClr val="55A85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F5F9B0E-A4FC-144C-6F69-664D172AD28C}"/>
                </a:ext>
              </a:extLst>
            </p:cNvPr>
            <p:cNvSpPr/>
            <p:nvPr userDrawn="1"/>
          </p:nvSpPr>
          <p:spPr>
            <a:xfrm>
              <a:off x="4064014" y="1161937"/>
              <a:ext cx="4068000" cy="108000"/>
            </a:xfrm>
            <a:prstGeom prst="rect">
              <a:avLst/>
            </a:prstGeom>
            <a:solidFill>
              <a:srgbClr val="ED502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4761BC2-F767-6A62-9B58-0FA494FA172B}"/>
                </a:ext>
              </a:extLst>
            </p:cNvPr>
            <p:cNvSpPr/>
            <p:nvPr userDrawn="1"/>
          </p:nvSpPr>
          <p:spPr>
            <a:xfrm>
              <a:off x="8167051" y="1161937"/>
              <a:ext cx="4024648" cy="108000"/>
            </a:xfrm>
            <a:prstGeom prst="rect">
              <a:avLst/>
            </a:prstGeom>
            <a:solidFill>
              <a:srgbClr val="6CC0D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797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3918E7-15C7-B347-512E-8B1804CC115B}"/>
              </a:ext>
            </a:extLst>
          </p:cNvPr>
          <p:cNvGrpSpPr/>
          <p:nvPr userDrawn="1"/>
        </p:nvGrpSpPr>
        <p:grpSpPr>
          <a:xfrm>
            <a:off x="0" y="1193078"/>
            <a:ext cx="12192000" cy="45719"/>
            <a:chOff x="0" y="1161937"/>
            <a:chExt cx="12191700" cy="1080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D93EB9E-B0E8-4069-657C-6BB0083E7273}"/>
                </a:ext>
              </a:extLst>
            </p:cNvPr>
            <p:cNvSpPr/>
            <p:nvPr userDrawn="1"/>
          </p:nvSpPr>
          <p:spPr>
            <a:xfrm>
              <a:off x="0" y="1161937"/>
              <a:ext cx="4064014" cy="108000"/>
            </a:xfrm>
            <a:prstGeom prst="rect">
              <a:avLst/>
            </a:prstGeom>
            <a:solidFill>
              <a:srgbClr val="55A85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F5F9B0E-A4FC-144C-6F69-664D172AD28C}"/>
                </a:ext>
              </a:extLst>
            </p:cNvPr>
            <p:cNvSpPr/>
            <p:nvPr userDrawn="1"/>
          </p:nvSpPr>
          <p:spPr>
            <a:xfrm>
              <a:off x="4064014" y="1161937"/>
              <a:ext cx="4068000" cy="108000"/>
            </a:xfrm>
            <a:prstGeom prst="rect">
              <a:avLst/>
            </a:prstGeom>
            <a:solidFill>
              <a:srgbClr val="ED502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4761BC2-F767-6A62-9B58-0FA494FA172B}"/>
                </a:ext>
              </a:extLst>
            </p:cNvPr>
            <p:cNvSpPr/>
            <p:nvPr userDrawn="1"/>
          </p:nvSpPr>
          <p:spPr>
            <a:xfrm>
              <a:off x="8127300" y="1161937"/>
              <a:ext cx="4064400" cy="108000"/>
            </a:xfrm>
            <a:prstGeom prst="rect">
              <a:avLst/>
            </a:prstGeom>
            <a:solidFill>
              <a:srgbClr val="6CC0D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 </a:t>
              </a:r>
            </a:p>
          </p:txBody>
        </p:sp>
      </p:grpSp>
      <p:sp>
        <p:nvSpPr>
          <p:cNvPr id="8" name="Rechteck 7">
            <a:extLst>
              <a:ext uri="{FF2B5EF4-FFF2-40B4-BE49-F238E27FC236}">
                <a16:creationId xmlns:a16="http://schemas.microsoft.com/office/drawing/2014/main" id="{3D2989AE-CFA4-2ADB-233E-F52D68878E00}"/>
              </a:ext>
            </a:extLst>
          </p:cNvPr>
          <p:cNvSpPr/>
          <p:nvPr userDrawn="1"/>
        </p:nvSpPr>
        <p:spPr>
          <a:xfrm>
            <a:off x="0" y="5984875"/>
            <a:ext cx="12192000" cy="87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500952DE-EB50-4DBA-0D6C-C30CD3C99A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238798"/>
            <a:ext cx="12192000" cy="4904827"/>
          </a:xfrm>
          <a:solidFill>
            <a:srgbClr val="44546A">
              <a:alpha val="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973C783D-DB89-3588-D9D7-7F845FA7AC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710688"/>
            <a:ext cx="7824787" cy="1742566"/>
          </a:xfrm>
          <a:solidFill>
            <a:schemeClr val="bg1">
              <a:alpha val="85000"/>
            </a:schemeClr>
          </a:solidFill>
        </p:spPr>
        <p:txBody>
          <a:bodyPr wrap="square" lIns="486000" tIns="360000" rIns="360000" bIns="360000" anchor="t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200" b="0">
                <a:solidFill>
                  <a:srgbClr val="44546A"/>
                </a:solidFill>
                <a:latin typeface="Montserrat Medium" panose="00000600000000000000" pitchFamily="2" charset="0"/>
              </a:defRPr>
            </a:lvl1pPr>
            <a:lvl2pPr marL="457200" indent="0">
              <a:lnSpc>
                <a:spcPts val="3520"/>
              </a:lnSpc>
              <a:spcAft>
                <a:spcPts val="1600"/>
              </a:spcAft>
              <a:buNone/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 marL="914400" indent="0">
              <a:lnSpc>
                <a:spcPct val="11000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lang="de-DE" sz="1600" kern="1200" dirty="0">
                <a:solidFill>
                  <a:srgbClr val="44546A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/>
              <a:t>Headline, Montserrat </a:t>
            </a:r>
            <a:r>
              <a:rPr lang="de-DE" err="1"/>
              <a:t>Med</a:t>
            </a:r>
            <a:r>
              <a:rPr lang="de-DE"/>
              <a:t>, 32 </a:t>
            </a:r>
            <a:r>
              <a:rPr lang="de-DE" err="1"/>
              <a:t>pt</a:t>
            </a:r>
            <a:endParaRPr lang="de-DE"/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err="1"/>
              <a:t>Subline</a:t>
            </a:r>
            <a:r>
              <a:rPr lang="de-DE"/>
              <a:t>/Referent/Datum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608732F-0600-59BA-D69C-4C35B66EDD83}"/>
              </a:ext>
            </a:extLst>
          </p:cNvPr>
          <p:cNvSpPr txBox="1"/>
          <p:nvPr userDrawn="1"/>
        </p:nvSpPr>
        <p:spPr>
          <a:xfrm>
            <a:off x="0" y="6318885"/>
            <a:ext cx="12192000" cy="338554"/>
          </a:xfrm>
          <a:prstGeom prst="rect">
            <a:avLst/>
          </a:prstGeom>
          <a:noFill/>
        </p:spPr>
        <p:txBody>
          <a:bodyPr wrap="square" lIns="486000" rtlCol="0">
            <a:spAutoFit/>
          </a:bodyPr>
          <a:lstStyle/>
          <a:p>
            <a:r>
              <a:rPr lang="de-DE" sz="1600">
                <a:solidFill>
                  <a:srgbClr val="ED5025"/>
                </a:solidFill>
                <a:latin typeface="Montserrat Medium" panose="00000600000000000000" pitchFamily="2" charset="0"/>
              </a:rPr>
              <a:t>Forschung für eine zukunftsfähige Wertschöpfung</a:t>
            </a:r>
          </a:p>
        </p:txBody>
      </p:sp>
    </p:spTree>
    <p:extLst>
      <p:ext uri="{BB962C8B-B14F-4D97-AF65-F5344CB8AC3E}">
        <p14:creationId xmlns:p14="http://schemas.microsoft.com/office/powerpoint/2010/main" val="256237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604" y="2915485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6755" y="2913058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68712" y="2913058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2C07ECC-4022-41DC-B549-77C87D3E74B8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6604" y="3689350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4773" y="3686923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68712" y="3686923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6604" y="4461769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86756" y="4459342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68712" y="4459342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07490" y="2784186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07490" y="3549924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07490" y="4330325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660A3BD-094D-41E0-9D2F-F9459CFD13BC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1882268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604" y="2536571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6755" y="2534144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68712" y="2534144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6604" y="3310436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4773" y="3308009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68712" y="330800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6604" y="4082855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86756" y="4080428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68712" y="4080428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0" name="Textplatzhalter 25">
            <a:extLst>
              <a:ext uri="{FF2B5EF4-FFF2-40B4-BE49-F238E27FC236}">
                <a16:creationId xmlns:a16="http://schemas.microsoft.com/office/drawing/2014/main" id="{7E05B521-932B-48EE-B2EC-D18248B75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86604" y="4850086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2" name="Textplatzhalter 25">
            <a:extLst>
              <a:ext uri="{FF2B5EF4-FFF2-40B4-BE49-F238E27FC236}">
                <a16:creationId xmlns:a16="http://schemas.microsoft.com/office/drawing/2014/main" id="{BE7C0B7D-F846-472C-A834-C85B9725D1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86756" y="4847659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3" name="Textplatzhalter 25">
            <a:extLst>
              <a:ext uri="{FF2B5EF4-FFF2-40B4-BE49-F238E27FC236}">
                <a16:creationId xmlns:a16="http://schemas.microsoft.com/office/drawing/2014/main" id="{19FF051D-E554-4661-856B-D2155C3BA4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68712" y="484765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07490" y="2405272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07490" y="3171010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07490" y="395141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8AE45D28-2B9D-4E3C-8722-B65F0E46C8CB}"/>
              </a:ext>
            </a:extLst>
          </p:cNvPr>
          <p:cNvSpPr txBox="1"/>
          <p:nvPr userDrawn="1"/>
        </p:nvSpPr>
        <p:spPr>
          <a:xfrm>
            <a:off x="407490" y="4715438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F8DCE91-9FF5-C0EC-0A02-1141E641D8E6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F6DFF6-78C3-144D-F0A8-3161A0FD8CAB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85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7008" y="2134466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159" y="2132039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69116" y="213203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87008" y="2908331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5177" y="2905904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69116" y="2905904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7008" y="3680750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87160" y="3678323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69116" y="3678323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0" name="Textplatzhalter 25">
            <a:extLst>
              <a:ext uri="{FF2B5EF4-FFF2-40B4-BE49-F238E27FC236}">
                <a16:creationId xmlns:a16="http://schemas.microsoft.com/office/drawing/2014/main" id="{7E05B521-932B-48EE-B2EC-D18248B75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87008" y="4447981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2" name="Textplatzhalter 25">
            <a:extLst>
              <a:ext uri="{FF2B5EF4-FFF2-40B4-BE49-F238E27FC236}">
                <a16:creationId xmlns:a16="http://schemas.microsoft.com/office/drawing/2014/main" id="{BE7C0B7D-F846-472C-A834-C85B9725D1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87160" y="4445554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3" name="Textplatzhalter 25">
            <a:extLst>
              <a:ext uri="{FF2B5EF4-FFF2-40B4-BE49-F238E27FC236}">
                <a16:creationId xmlns:a16="http://schemas.microsoft.com/office/drawing/2014/main" id="{19FF051D-E554-4661-856B-D2155C3BA4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69116" y="4445554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4" name="Textplatzhalter 25">
            <a:extLst>
              <a:ext uri="{FF2B5EF4-FFF2-40B4-BE49-F238E27FC236}">
                <a16:creationId xmlns:a16="http://schemas.microsoft.com/office/drawing/2014/main" id="{0E365A01-044E-421A-B98F-B3D5674B694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87008" y="5219857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6" name="Textplatzhalter 25">
            <a:extLst>
              <a:ext uri="{FF2B5EF4-FFF2-40B4-BE49-F238E27FC236}">
                <a16:creationId xmlns:a16="http://schemas.microsoft.com/office/drawing/2014/main" id="{8CA345F4-D1B2-4E15-B338-4A3E54E0E4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87160" y="5217430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7" name="Textplatzhalter 25">
            <a:extLst>
              <a:ext uri="{FF2B5EF4-FFF2-40B4-BE49-F238E27FC236}">
                <a16:creationId xmlns:a16="http://schemas.microsoft.com/office/drawing/2014/main" id="{B1CF7080-3B75-4E6A-914B-1B89E6042E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69116" y="521743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07894" y="2003167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07894" y="2768905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07894" y="3549306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8AE45D28-2B9D-4E3C-8722-B65F0E46C8CB}"/>
              </a:ext>
            </a:extLst>
          </p:cNvPr>
          <p:cNvSpPr txBox="1"/>
          <p:nvPr userDrawn="1"/>
        </p:nvSpPr>
        <p:spPr>
          <a:xfrm>
            <a:off x="407894" y="4313333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1F9683EB-D8AC-4FF6-8EB5-8354AF29ADA5}"/>
              </a:ext>
            </a:extLst>
          </p:cNvPr>
          <p:cNvSpPr txBox="1"/>
          <p:nvPr userDrawn="1"/>
        </p:nvSpPr>
        <p:spPr>
          <a:xfrm>
            <a:off x="407894" y="508403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EB408A8-F51C-E72F-EF0D-B80FC4951930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B073BEA-4CA6-20BB-431C-23D7FC4F06AF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8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(0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5">
            <a:extLst>
              <a:ext uri="{FF2B5EF4-FFF2-40B4-BE49-F238E27FC236}">
                <a16:creationId xmlns:a16="http://schemas.microsoft.com/office/drawing/2014/main" id="{BC9C7667-FD21-49D1-81EE-B97FE4749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95973" y="1761662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0F6D7BA5-2EF2-4817-A21D-5C1FEF9978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6124" y="1759235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D9E1406F-099D-4080-9BD6-E2269292F5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78081" y="1759235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2" name="Textplatzhalter 25">
            <a:extLst>
              <a:ext uri="{FF2B5EF4-FFF2-40B4-BE49-F238E27FC236}">
                <a16:creationId xmlns:a16="http://schemas.microsoft.com/office/drawing/2014/main" id="{61FAEF35-8F55-44CF-AB15-EE4AC5B9E8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95973" y="2535527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4" name="Textplatzhalter 25">
            <a:extLst>
              <a:ext uri="{FF2B5EF4-FFF2-40B4-BE49-F238E27FC236}">
                <a16:creationId xmlns:a16="http://schemas.microsoft.com/office/drawing/2014/main" id="{1DF7FEA9-8704-46FA-B838-4551B6C839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94142" y="2533100"/>
            <a:ext cx="1695099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5" name="Textplatzhalter 25">
            <a:extLst>
              <a:ext uri="{FF2B5EF4-FFF2-40B4-BE49-F238E27FC236}">
                <a16:creationId xmlns:a16="http://schemas.microsoft.com/office/drawing/2014/main" id="{B09C3D73-3A15-4854-8C01-53876470CB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081" y="253310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46" name="Textplatzhalter 25">
            <a:extLst>
              <a:ext uri="{FF2B5EF4-FFF2-40B4-BE49-F238E27FC236}">
                <a16:creationId xmlns:a16="http://schemas.microsoft.com/office/drawing/2014/main" id="{F7053013-61A1-4400-8D6C-9EACCD9F38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95973" y="3307946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48" name="Textplatzhalter 25">
            <a:extLst>
              <a:ext uri="{FF2B5EF4-FFF2-40B4-BE49-F238E27FC236}">
                <a16:creationId xmlns:a16="http://schemas.microsoft.com/office/drawing/2014/main" id="{7771CB07-3187-4C0B-9D16-6BABB31C83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96125" y="3305519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49" name="Textplatzhalter 25">
            <a:extLst>
              <a:ext uri="{FF2B5EF4-FFF2-40B4-BE49-F238E27FC236}">
                <a16:creationId xmlns:a16="http://schemas.microsoft.com/office/drawing/2014/main" id="{D95A9B91-8D38-4647-B8FC-6B66188F46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081" y="3305519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0" name="Textplatzhalter 25">
            <a:extLst>
              <a:ext uri="{FF2B5EF4-FFF2-40B4-BE49-F238E27FC236}">
                <a16:creationId xmlns:a16="http://schemas.microsoft.com/office/drawing/2014/main" id="{7E05B521-932B-48EE-B2EC-D18248B75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95973" y="4075177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2" name="Textplatzhalter 25">
            <a:extLst>
              <a:ext uri="{FF2B5EF4-FFF2-40B4-BE49-F238E27FC236}">
                <a16:creationId xmlns:a16="http://schemas.microsoft.com/office/drawing/2014/main" id="{BE7C0B7D-F846-472C-A834-C85B9725D1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96125" y="4072750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3" name="Textplatzhalter 25">
            <a:extLst>
              <a:ext uri="{FF2B5EF4-FFF2-40B4-BE49-F238E27FC236}">
                <a16:creationId xmlns:a16="http://schemas.microsoft.com/office/drawing/2014/main" id="{19FF051D-E554-4661-856B-D2155C3BA4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78081" y="407275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4" name="Textplatzhalter 25">
            <a:extLst>
              <a:ext uri="{FF2B5EF4-FFF2-40B4-BE49-F238E27FC236}">
                <a16:creationId xmlns:a16="http://schemas.microsoft.com/office/drawing/2014/main" id="{0E365A01-044E-421A-B98F-B3D5674B694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95973" y="4847053"/>
            <a:ext cx="5271412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56" name="Textplatzhalter 25">
            <a:extLst>
              <a:ext uri="{FF2B5EF4-FFF2-40B4-BE49-F238E27FC236}">
                <a16:creationId xmlns:a16="http://schemas.microsoft.com/office/drawing/2014/main" id="{8CA345F4-D1B2-4E15-B338-4A3E54E0E4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96125" y="4844626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57" name="Textplatzhalter 25">
            <a:extLst>
              <a:ext uri="{FF2B5EF4-FFF2-40B4-BE49-F238E27FC236}">
                <a16:creationId xmlns:a16="http://schemas.microsoft.com/office/drawing/2014/main" id="{B1CF7080-3B75-4E6A-914B-1B89E6042E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78081" y="4844626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1E92EA7A-B896-490D-905B-5AA68B6FF67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295973" y="5623747"/>
            <a:ext cx="5271411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 err="1"/>
              <a:t>Agendapunkt</a:t>
            </a:r>
            <a:endParaRPr lang="de-DE"/>
          </a:p>
        </p:txBody>
      </p:sp>
      <p:sp>
        <p:nvSpPr>
          <p:cNvPr id="60" name="Textplatzhalter 25">
            <a:extLst>
              <a:ext uri="{FF2B5EF4-FFF2-40B4-BE49-F238E27FC236}">
                <a16:creationId xmlns:a16="http://schemas.microsoft.com/office/drawing/2014/main" id="{56C23491-9A91-40AA-A384-385AA23FC8C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96125" y="5621320"/>
            <a:ext cx="1693116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Uhrzeit</a:t>
            </a:r>
          </a:p>
        </p:txBody>
      </p:sp>
      <p:sp>
        <p:nvSpPr>
          <p:cNvPr id="61" name="Textplatzhalter 25">
            <a:extLst>
              <a:ext uri="{FF2B5EF4-FFF2-40B4-BE49-F238E27FC236}">
                <a16:creationId xmlns:a16="http://schemas.microsoft.com/office/drawing/2014/main" id="{84DC8DE2-1642-4FA2-AEB9-3B45CB6EAB1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78081" y="5621320"/>
            <a:ext cx="2024154" cy="3603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de-DE"/>
              <a:t>Person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44F541-8E15-49E3-8F19-7884A93D55E8}"/>
              </a:ext>
            </a:extLst>
          </p:cNvPr>
          <p:cNvSpPr txBox="1"/>
          <p:nvPr userDrawn="1"/>
        </p:nvSpPr>
        <p:spPr>
          <a:xfrm>
            <a:off x="416859" y="1630363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95FFDEB-95BA-4BF0-8D12-EF0E6BC41E70}"/>
              </a:ext>
            </a:extLst>
          </p:cNvPr>
          <p:cNvSpPr txBox="1"/>
          <p:nvPr userDrawn="1"/>
        </p:nvSpPr>
        <p:spPr>
          <a:xfrm>
            <a:off x="416859" y="239610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6338BE-B326-4197-A274-59E9E1F02254}"/>
              </a:ext>
            </a:extLst>
          </p:cNvPr>
          <p:cNvSpPr txBox="1"/>
          <p:nvPr userDrawn="1"/>
        </p:nvSpPr>
        <p:spPr>
          <a:xfrm>
            <a:off x="416859" y="3176502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8AE45D28-2B9D-4E3C-8722-B65F0E46C8CB}"/>
              </a:ext>
            </a:extLst>
          </p:cNvPr>
          <p:cNvSpPr txBox="1"/>
          <p:nvPr userDrawn="1"/>
        </p:nvSpPr>
        <p:spPr>
          <a:xfrm>
            <a:off x="416859" y="3940529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1F9683EB-D8AC-4FF6-8EB5-8354AF29ADA5}"/>
              </a:ext>
            </a:extLst>
          </p:cNvPr>
          <p:cNvSpPr txBox="1"/>
          <p:nvPr userDrawn="1"/>
        </p:nvSpPr>
        <p:spPr>
          <a:xfrm>
            <a:off x="416859" y="4711227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8576E42C-565B-4536-A4FB-CBFA98C81E62}"/>
              </a:ext>
            </a:extLst>
          </p:cNvPr>
          <p:cNvSpPr txBox="1"/>
          <p:nvPr userDrawn="1"/>
        </p:nvSpPr>
        <p:spPr>
          <a:xfrm>
            <a:off x="416859" y="5490661"/>
            <a:ext cx="70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>
                <a:solidFill>
                  <a:srgbClr val="003F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06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F1B2235-740F-E302-64A3-695706A6ABCE}"/>
              </a:ext>
            </a:extLst>
          </p:cNvPr>
          <p:cNvSpPr>
            <a:spLocks noGrp="1"/>
          </p:cNvSpPr>
          <p:nvPr>
            <p:ph type="ftr" sz="quarter" idx="55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E351A7D-3EE6-E4EE-1181-B15B45D7F379}"/>
              </a:ext>
            </a:extLst>
          </p:cNvPr>
          <p:cNvSpPr txBox="1"/>
          <p:nvPr userDrawn="1"/>
        </p:nvSpPr>
        <p:spPr>
          <a:xfrm>
            <a:off x="515938" y="281025"/>
            <a:ext cx="242252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de-DE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8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6E0056F-4324-4C09-9375-AA93E78E6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76363"/>
            <a:ext cx="11160125" cy="4932362"/>
          </a:xfrm>
        </p:spPr>
        <p:txBody>
          <a:bodyPr t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1C4CD3-CE6D-CDF2-0603-C3EDBAD6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9580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ppelt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005468-6E9C-0DDB-2CE0-2D613DC08F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937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147AFB37-9A10-6596-4902-67607BB2BB4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5389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CDDF3BE8-C79E-471E-C310-F87E4FCB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7787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r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6E0056F-4324-4C09-9375-AA93E78E6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76363"/>
            <a:ext cx="11160125" cy="4932362"/>
          </a:xfrm>
        </p:spPr>
        <p:txBody>
          <a:bodyPr t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1C4CD3-CE6D-CDF2-0603-C3EDBAD6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95417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C9EEBE3-805E-9168-6FF7-A957B32C2E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658" y="681493"/>
            <a:ext cx="9163050" cy="246062"/>
          </a:xfrm>
        </p:spPr>
        <p:txBody>
          <a:bodyPr lIns="0" rIns="0" bIns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11074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ppelter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871D79-AB5C-2A31-DD31-F124D080AB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005468-6E9C-0DDB-2CE0-2D613DC08F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937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147AFB37-9A10-6596-4902-67607BB2BB4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5389" y="1376363"/>
            <a:ext cx="5400676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80DA43D-0630-192C-A565-10D8F102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95417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2BFFCA1-D79B-F27D-92E3-65F8226F46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6658" y="681493"/>
            <a:ext cx="9163050" cy="246062"/>
          </a:xfrm>
        </p:spPr>
        <p:txBody>
          <a:bodyPr lIns="0" rIns="0" bIns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6847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7B1603-CC04-98BF-12A0-96EDE3166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79875F-7E5F-EA84-723A-A353911C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95417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6FCA77B0-8E64-E2B6-9A57-5161235919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658" y="681493"/>
            <a:ext cx="9163050" cy="246062"/>
          </a:xfrm>
        </p:spPr>
        <p:txBody>
          <a:bodyPr lIns="0" rIns="0" bIns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493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7B1603-CC04-98BF-12A0-96EDE3166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A5259949-F15F-18B9-3442-E9F58D77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73521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6E0056F-4324-4C09-9375-AA93E78E6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76363"/>
            <a:ext cx="11160125" cy="49323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F1828DF-61BF-4CE5-0D58-99C7513799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184077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2C4FA16-F294-7F1C-5257-F48EC41274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2658311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0D5B2CC-C1E2-2B03-53C7-28C22C1FC0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376363"/>
            <a:ext cx="5580062" cy="4932361"/>
          </a:xfrm>
        </p:spPr>
        <p:txBody>
          <a:bodyPr>
            <a:normAutofit/>
          </a:bodyPr>
          <a:lstStyle>
            <a:lvl1pPr>
              <a:defRPr sz="1800">
                <a:latin typeface="Montserrat Medium" panose="00000600000000000000" pitchFamily="2" charset="0"/>
              </a:defRPr>
            </a:lvl1pPr>
            <a:lvl2pPr>
              <a:defRPr sz="1600">
                <a:latin typeface="Montserrat Medium" panose="00000600000000000000" pitchFamily="2" charset="0"/>
              </a:defRPr>
            </a:lvl2pPr>
            <a:lvl3pPr>
              <a:defRPr sz="1600">
                <a:latin typeface="Montserrat Medium" panose="00000600000000000000" pitchFamily="2" charset="0"/>
              </a:defRPr>
            </a:lvl3pPr>
            <a:lvl4pPr>
              <a:defRPr sz="1600">
                <a:latin typeface="Montserrat Medium" panose="00000600000000000000" pitchFamily="2" charset="0"/>
              </a:defRPr>
            </a:lvl4pPr>
            <a:lvl5pPr>
              <a:defRPr sz="1600">
                <a:latin typeface="Montserrat Medium" panose="000006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B3F1921-EFD1-4876-5B6B-BEF230C226CD}"/>
              </a:ext>
            </a:extLst>
          </p:cNvPr>
          <p:cNvGrpSpPr/>
          <p:nvPr userDrawn="1"/>
        </p:nvGrpSpPr>
        <p:grpSpPr>
          <a:xfrm>
            <a:off x="6206433" y="4479516"/>
            <a:ext cx="5580062" cy="1829208"/>
            <a:chOff x="5861906" y="3920767"/>
            <a:chExt cx="6048245" cy="1829208"/>
          </a:xfrm>
        </p:grpSpPr>
        <p:pic>
          <p:nvPicPr>
            <p:cNvPr id="16" name="Grafik 15" descr="Ein Bild, das Grafiken, Muster, Schrift, Screenshot enthält.&#10;&#10;Automatisch generierte Beschreibung">
              <a:extLst>
                <a:ext uri="{FF2B5EF4-FFF2-40B4-BE49-F238E27FC236}">
                  <a16:creationId xmlns:a16="http://schemas.microsoft.com/office/drawing/2014/main" id="{506CE4C0-D18C-E3E7-0594-2F02735BE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7594" y="3920767"/>
              <a:ext cx="1427980" cy="1427980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03E8D2B5-49AA-F4CB-B8CC-7CE12D965AA7}"/>
                </a:ext>
              </a:extLst>
            </p:cNvPr>
            <p:cNvSpPr txBox="1"/>
            <p:nvPr userDrawn="1"/>
          </p:nvSpPr>
          <p:spPr>
            <a:xfrm>
              <a:off x="5861906" y="5380643"/>
              <a:ext cx="6048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800" b="1">
                  <a:solidFill>
                    <a:srgbClr val="ED5025"/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www.ferdinand-steinbeis-institut.de</a:t>
              </a:r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EAFC3E4E-8311-CC50-B01D-31C3086F496A}"/>
              </a:ext>
            </a:extLst>
          </p:cNvPr>
          <p:cNvSpPr txBox="1"/>
          <p:nvPr userDrawn="1"/>
        </p:nvSpPr>
        <p:spPr>
          <a:xfrm>
            <a:off x="3300311" y="6429562"/>
            <a:ext cx="5591378" cy="36568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b="1">
                <a:solidFill>
                  <a:srgbClr val="44546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>
                <a:solidFill>
                  <a:srgbClr val="44546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de-DE" sz="800" b="0">
                <a:solidFill>
                  <a:schemeClr val="bg2"/>
                </a:solidFill>
                <a:latin typeface="Montserrat Medium" panose="00000600000000000000" pitchFamily="2" charset="0"/>
              </a:rPr>
              <a:t>Bildungscampus 9, 74076 Heilbronn | </a:t>
            </a:r>
            <a:r>
              <a:rPr lang="de-DE" sz="800" b="0" err="1">
                <a:solidFill>
                  <a:schemeClr val="bg2"/>
                </a:solidFill>
                <a:latin typeface="Montserrat Medium" panose="00000600000000000000" pitchFamily="2" charset="0"/>
              </a:rPr>
              <a:t>Filderhauptstrasse</a:t>
            </a:r>
            <a:r>
              <a:rPr lang="de-DE" sz="800" b="0">
                <a:solidFill>
                  <a:schemeClr val="bg2"/>
                </a:solidFill>
                <a:latin typeface="Montserrat Medium" panose="00000600000000000000" pitchFamily="2" charset="0"/>
              </a:rPr>
              <a:t> 142, 70599 Stuttgart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6FF6B23-82CF-E14A-A931-7B7C3B60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9804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5938" y="1376363"/>
            <a:ext cx="11160124" cy="4932362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 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15937" y="358703"/>
            <a:ext cx="9163771" cy="43207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de-DE"/>
              <a:t>Titelmasterformat bearbeiten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709B433-F193-4691-B862-4CDAAEF69ADE}"/>
              </a:ext>
            </a:extLst>
          </p:cNvPr>
          <p:cNvSpPr txBox="1"/>
          <p:nvPr userDrawn="1"/>
        </p:nvSpPr>
        <p:spPr>
          <a:xfrm>
            <a:off x="10877548" y="6499010"/>
            <a:ext cx="79851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de-DE" sz="800">
                <a:solidFill>
                  <a:schemeClr val="bg2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Seite </a:t>
            </a:r>
            <a:fld id="{C9DC38EA-31F3-4BC8-9C32-DFA18E2F5E15}" type="slidenum">
              <a:rPr lang="de-DE" sz="800" smtClean="0">
                <a:solidFill>
                  <a:schemeClr val="bg2"/>
                </a:solidFill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‹Nr.›</a:t>
            </a:fld>
            <a:endParaRPr lang="de-DE" sz="800">
              <a:solidFill>
                <a:schemeClr val="bg2"/>
              </a:solidFill>
              <a:latin typeface="Montserrat Medium" panose="000006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E792E2F3-2B3B-ADA7-10AD-68C76A055FC5}"/>
              </a:ext>
            </a:extLst>
          </p:cNvPr>
          <p:cNvGrpSpPr/>
          <p:nvPr userDrawn="1"/>
        </p:nvGrpSpPr>
        <p:grpSpPr>
          <a:xfrm>
            <a:off x="515938" y="1104177"/>
            <a:ext cx="11160124" cy="45720"/>
            <a:chOff x="0" y="1161937"/>
            <a:chExt cx="12191700" cy="10800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E0A0E88-ACA7-FAB7-EEE1-2D00F89AFF7B}"/>
                </a:ext>
              </a:extLst>
            </p:cNvPr>
            <p:cNvSpPr/>
            <p:nvPr userDrawn="1"/>
          </p:nvSpPr>
          <p:spPr>
            <a:xfrm>
              <a:off x="0" y="1161937"/>
              <a:ext cx="4040777" cy="108000"/>
            </a:xfrm>
            <a:prstGeom prst="rect">
              <a:avLst/>
            </a:prstGeom>
            <a:solidFill>
              <a:srgbClr val="55A85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02123B-FD1E-4AF5-9764-20C93070A6BD}"/>
                </a:ext>
              </a:extLst>
            </p:cNvPr>
            <p:cNvSpPr/>
            <p:nvPr userDrawn="1"/>
          </p:nvSpPr>
          <p:spPr>
            <a:xfrm>
              <a:off x="4082400" y="1161937"/>
              <a:ext cx="4021699" cy="108000"/>
            </a:xfrm>
            <a:prstGeom prst="rect">
              <a:avLst/>
            </a:prstGeom>
            <a:solidFill>
              <a:srgbClr val="ED502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1AFD4FEA-DDCF-CCB3-3B3B-FCC14FCAC0DF}"/>
                </a:ext>
              </a:extLst>
            </p:cNvPr>
            <p:cNvSpPr/>
            <p:nvPr userDrawn="1"/>
          </p:nvSpPr>
          <p:spPr>
            <a:xfrm>
              <a:off x="8145722" y="1161937"/>
              <a:ext cx="4045978" cy="108000"/>
            </a:xfrm>
            <a:prstGeom prst="rect">
              <a:avLst/>
            </a:prstGeom>
            <a:solidFill>
              <a:srgbClr val="6CC0D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   </a:t>
              </a:r>
            </a:p>
          </p:txBody>
        </p:sp>
      </p:grpSp>
      <p:pic>
        <p:nvPicPr>
          <p:cNvPr id="12" name="Grafik 1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AF09B2DE-7013-B290-DF4E-0C43906140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l="24349"/>
          <a:stretch/>
        </p:blipFill>
        <p:spPr>
          <a:xfrm>
            <a:off x="10301556" y="229320"/>
            <a:ext cx="1374507" cy="66602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Datumsplatzhalter">
            <a:extLst>
              <a:ext uri="{FF2B5EF4-FFF2-40B4-BE49-F238E27FC236}">
                <a16:creationId xmlns:a16="http://schemas.microsoft.com/office/drawing/2014/main" id="{33D4E69B-2A12-00D0-0A61-CE976574761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15938" y="6499011"/>
            <a:ext cx="864000" cy="2154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000" kern="1200" smtClean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FEEEE4-0C7A-49F5-AD56-F7BDF80B937A}" type="datetime1">
              <a:rPr lang="de-DE" sz="800" smtClean="0">
                <a:solidFill>
                  <a:schemeClr val="bg2"/>
                </a:solidFill>
                <a:latin typeface="Montserrat Medium" panose="00000600000000000000" pitchFamily="2" charset="0"/>
              </a:rPr>
              <a:pPr/>
              <a:t>14.09.2026</a:t>
            </a:fld>
            <a:endParaRPr lang="de-DE" sz="800">
              <a:solidFill>
                <a:schemeClr val="bg2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3" name="Fußzeilenplatzhalter 22">
            <a:extLst>
              <a:ext uri="{FF2B5EF4-FFF2-40B4-BE49-F238E27FC236}">
                <a16:creationId xmlns:a16="http://schemas.microsoft.com/office/drawing/2014/main" id="{6877654F-B6C0-1385-3890-194A96D7F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2916"/>
            <a:ext cx="4114800" cy="366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2"/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de-DE"/>
              <a:t>- Präsentationstitel -</a:t>
            </a:r>
          </a:p>
        </p:txBody>
      </p:sp>
    </p:spTree>
    <p:extLst>
      <p:ext uri="{BB962C8B-B14F-4D97-AF65-F5344CB8AC3E}">
        <p14:creationId xmlns:p14="http://schemas.microsoft.com/office/powerpoint/2010/main" val="150644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8" r:id="rId2"/>
    <p:sldLayoutId id="2147483667" r:id="rId3"/>
    <p:sldLayoutId id="2147483715" r:id="rId4"/>
    <p:sldLayoutId id="2147483714" r:id="rId5"/>
    <p:sldLayoutId id="2147483713" r:id="rId6"/>
    <p:sldLayoutId id="2147483718" r:id="rId7"/>
    <p:sldLayoutId id="2147483739" r:id="rId8"/>
    <p:sldLayoutId id="2147483741" r:id="rId9"/>
    <p:sldLayoutId id="2147483742" r:id="rId10"/>
    <p:sldLayoutId id="2147483743" r:id="rId11"/>
    <p:sldLayoutId id="2147483717" r:id="rId12"/>
    <p:sldLayoutId id="2147483655" r:id="rId13"/>
    <p:sldLayoutId id="2147483716" r:id="rId14"/>
    <p:sldLayoutId id="2147483737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F63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ontserrat Medium" panose="00000600000000000000" pitchFamily="2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7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pos="32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platzhalter 3" descr="Ein Bild, das draußen, Baum, Luftfotografie, Vogelperspektive enthält.&#10;&#10;Automatisch generierte Beschreibung">
            <a:extLst>
              <a:ext uri="{FF2B5EF4-FFF2-40B4-BE49-F238E27FC236}">
                <a16:creationId xmlns:a16="http://schemas.microsoft.com/office/drawing/2014/main" id="{5A74801F-AB00-B5E1-4651-7D9CFCB4912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" r="501"/>
          <a:stretch/>
        </p:blipFill>
        <p:spPr>
          <a:xfrm>
            <a:off x="0" y="1152525"/>
            <a:ext cx="12192000" cy="5705475"/>
          </a:xfrm>
          <a:prstGeom prst="rect">
            <a:avLst/>
          </a:prstGeom>
        </p:spPr>
      </p:pic>
      <p:sp>
        <p:nvSpPr>
          <p:cNvPr id="5" name="Textplatzhalter 2">
            <a:extLst>
              <a:ext uri="{FF2B5EF4-FFF2-40B4-BE49-F238E27FC236}">
                <a16:creationId xmlns:a16="http://schemas.microsoft.com/office/drawing/2014/main" id="{34784B8C-B0E6-D714-9A5D-BD73959A00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710688"/>
            <a:ext cx="7824787" cy="296354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IAA LCV Hackathon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Bring-</a:t>
            </a:r>
            <a:r>
              <a:rPr lang="fr-FR" sz="2000" dirty="0">
                <a:solidFill>
                  <a:srgbClr val="003F63"/>
                </a:solidFill>
              </a:rPr>
              <a:t>Y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our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Own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Device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003F63"/>
              </a:solidFill>
              <a:effectLst/>
              <a:uLnTx/>
              <a:uFillTx/>
              <a:latin typeface="Montserrat Medium" panose="000006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External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devices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Useful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vehicle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3F63"/>
                </a:solidFill>
                <a:effectLst/>
                <a:uLnTx/>
                <a:uFillTx/>
                <a:latin typeface="Montserrat Medium" panose="000006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applications.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de-DE" sz="2000" dirty="0">
              <a:solidFill>
                <a:srgbClr val="003F63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sz="2000" dirty="0">
                <a:solidFill>
                  <a:srgbClr val="003F63"/>
                </a:solidFill>
              </a:rPr>
              <a:t>Chris Cheng </a:t>
            </a:r>
            <a:r>
              <a:rPr lang="de-DE" sz="2000">
                <a:solidFill>
                  <a:srgbClr val="003F63"/>
                </a:solidFill>
              </a:rPr>
              <a:t>– Ferdinand-Steinbeis-Institut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rgbClr val="003F63"/>
              </a:solidFill>
              <a:effectLst/>
              <a:uLnTx/>
              <a:uFillTx/>
              <a:latin typeface="Montserrat Medium" panose="000006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678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103483C-127C-3D14-03BB-BE50DB48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job extends beyond the vehicle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C97C61-4074-8162-E12F-E78A294BE2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A contractor’s tools. A sensitive load. Live cargo</a:t>
            </a:r>
            <a:endParaRPr lang="de-DE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1FBF39E-EC30-1AA3-6B8F-F7660684EE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977" y="1355805"/>
            <a:ext cx="8442045" cy="389873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BD2BBBA-507E-C7A3-9805-CA12F2FE70A0}"/>
              </a:ext>
            </a:extLst>
          </p:cNvPr>
          <p:cNvSpPr txBox="1"/>
          <p:nvPr/>
        </p:nvSpPr>
        <p:spPr>
          <a:xfrm>
            <a:off x="1874977" y="5353208"/>
            <a:ext cx="8442045" cy="1154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70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8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Useful information often comes from outside the built-in vehicle systems.</a:t>
            </a:r>
          </a:p>
        </p:txBody>
      </p:sp>
    </p:spTree>
    <p:extLst>
      <p:ext uri="{BB962C8B-B14F-4D97-AF65-F5344CB8AC3E}">
        <p14:creationId xmlns:p14="http://schemas.microsoft.com/office/powerpoint/2010/main" val="6350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600F-542C-9524-F5CC-2F4A8C61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7D4F52C-0C98-618E-0AC1-71BB01F6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BYOD in a commercial vehicle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BB520D-6345-6B30-834F-76F930E2812F}"/>
              </a:ext>
            </a:extLst>
          </p:cNvPr>
          <p:cNvSpPr/>
          <p:nvPr/>
        </p:nvSpPr>
        <p:spPr>
          <a:xfrm>
            <a:off x="8224534" y="2837095"/>
            <a:ext cx="2910348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Vehicle / Interface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8F7D20-2467-9E34-2C67-F94E25D2F44C}"/>
              </a:ext>
            </a:extLst>
          </p:cNvPr>
          <p:cNvSpPr/>
          <p:nvPr/>
        </p:nvSpPr>
        <p:spPr>
          <a:xfrm>
            <a:off x="900105" y="2837095"/>
            <a:ext cx="2910348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External devices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ECA7C3-EA64-4775-1AD8-45A321607E1C}"/>
              </a:ext>
            </a:extLst>
          </p:cNvPr>
          <p:cNvSpPr/>
          <p:nvPr/>
        </p:nvSpPr>
        <p:spPr>
          <a:xfrm>
            <a:off x="4562319" y="2837095"/>
            <a:ext cx="2910348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Application logic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F3089-0FAF-5806-26C5-B98FFEAE6697}"/>
              </a:ext>
            </a:extLst>
          </p:cNvPr>
          <p:cNvSpPr txBox="1"/>
          <p:nvPr/>
        </p:nvSpPr>
        <p:spPr>
          <a:xfrm>
            <a:off x="943194" y="4149220"/>
            <a:ext cx="282417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Camera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Phone </a:t>
            </a: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/</a:t>
            </a: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 Wearable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Tool</a:t>
            </a: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 / </a:t>
            </a: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Sensor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1253F-E3BF-7DDA-7D96-5827B2CA2E1B}"/>
              </a:ext>
            </a:extLst>
          </p:cNvPr>
          <p:cNvSpPr txBox="1"/>
          <p:nvPr/>
        </p:nvSpPr>
        <p:spPr>
          <a:xfrm>
            <a:off x="4417180" y="4149221"/>
            <a:ext cx="3357640" cy="111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Interpret the signal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Use the job context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Decide on a response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1D3229-86A5-DAC0-51E5-4A62A3209377}"/>
              </a:ext>
            </a:extLst>
          </p:cNvPr>
          <p:cNvSpPr txBox="1"/>
          <p:nvPr/>
        </p:nvSpPr>
        <p:spPr>
          <a:xfrm>
            <a:off x="8000888" y="4164609"/>
            <a:ext cx="3357640" cy="77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Make the result visible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Support the user’s task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343E32-A7D5-3826-7302-EFB1EE8A6DBA}"/>
              </a:ext>
            </a:extLst>
          </p:cNvPr>
          <p:cNvSpPr txBox="1"/>
          <p:nvPr/>
        </p:nvSpPr>
        <p:spPr>
          <a:xfrm>
            <a:off x="900105" y="5579409"/>
            <a:ext cx="9163050" cy="440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  <a:ea typeface="Consolas"/>
                <a:cs typeface="Consolas"/>
              </a:rPr>
              <a:t>The reference camera is a starting point for a broader ecosystem.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3C4B61-F9AD-2F25-841E-2AFFC8624BED}"/>
              </a:ext>
            </a:extLst>
          </p:cNvPr>
          <p:cNvSpPr txBox="1"/>
          <p:nvPr/>
        </p:nvSpPr>
        <p:spPr>
          <a:xfrm>
            <a:off x="900104" y="1702365"/>
            <a:ext cx="10234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External hardware connects with a software-defined commercial vehicle.</a:t>
            </a:r>
            <a:endParaRPr lang="en-IN" sz="2400" b="1" dirty="0">
              <a:solidFill>
                <a:schemeClr val="tx2">
                  <a:lumMod val="95000"/>
                  <a:lumOff val="5000"/>
                </a:schemeClr>
              </a:solidFill>
              <a:latin typeface="+mj-lt"/>
              <a:ea typeface="Consolas"/>
              <a:cs typeface="Consola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79A017-131D-441E-F83D-4AF87E64F52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810453" y="3426539"/>
            <a:ext cx="7518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9BDD1A-BF2F-C685-F2F1-6088D232BDEF}"/>
              </a:ext>
            </a:extLst>
          </p:cNvPr>
          <p:cNvCxnSpPr>
            <a:stCxn id="20" idx="3"/>
            <a:endCxn id="14" idx="1"/>
          </p:cNvCxnSpPr>
          <p:nvPr/>
        </p:nvCxnSpPr>
        <p:spPr>
          <a:xfrm>
            <a:off x="7472667" y="3426539"/>
            <a:ext cx="7518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81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322E-46AA-C85D-2F5E-52E71BEF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CB712B1-2AC3-176D-1B48-08D5298D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The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413D8-1B8D-C7DC-3F4F-E0E3DEEC9D08}"/>
              </a:ext>
            </a:extLst>
          </p:cNvPr>
          <p:cNvSpPr txBox="1"/>
          <p:nvPr/>
        </p:nvSpPr>
        <p:spPr>
          <a:xfrm>
            <a:off x="678425" y="1802745"/>
            <a:ext cx="935047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Build a prototype that connects</a:t>
            </a:r>
          </a:p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an external device to a useful</a:t>
            </a:r>
          </a:p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commercial vehicle workflow.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B89AAE-39BE-878D-A4F7-C781624AA469}"/>
              </a:ext>
            </a:extLst>
          </p:cNvPr>
          <p:cNvSpPr txBox="1"/>
          <p:nvPr/>
        </p:nvSpPr>
        <p:spPr>
          <a:xfrm>
            <a:off x="840913" y="4113468"/>
            <a:ext cx="912250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USER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37608-2258-EA8E-F94B-D467BA296986}"/>
              </a:ext>
            </a:extLst>
          </p:cNvPr>
          <p:cNvSpPr txBox="1"/>
          <p:nvPr/>
        </p:nvSpPr>
        <p:spPr>
          <a:xfrm>
            <a:off x="3491961" y="4113468"/>
            <a:ext cx="1096912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EVENT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7C189A-0798-36FE-9979-9F5FCEB0097D}"/>
              </a:ext>
            </a:extLst>
          </p:cNvPr>
          <p:cNvSpPr txBox="1"/>
          <p:nvPr/>
        </p:nvSpPr>
        <p:spPr>
          <a:xfrm>
            <a:off x="6430950" y="4113468"/>
            <a:ext cx="1096912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VALUE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7DAA6B-DDFD-D57C-E77C-66E689430360}"/>
              </a:ext>
            </a:extLst>
          </p:cNvPr>
          <p:cNvSpPr txBox="1"/>
          <p:nvPr/>
        </p:nvSpPr>
        <p:spPr>
          <a:xfrm>
            <a:off x="8645935" y="4113468"/>
            <a:ext cx="1882318" cy="47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512" b="1" dirty="0">
                <a:solidFill>
                  <a:srgbClr val="239FB2"/>
                </a:solidFill>
                <a:latin typeface="Consolas"/>
                <a:ea typeface="Consolas"/>
                <a:cs typeface="Consolas"/>
              </a:rPr>
              <a:t>RESPONSE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CEEF6F-590E-531D-AA14-0F517665BFA6}"/>
              </a:ext>
            </a:extLst>
          </p:cNvPr>
          <p:cNvSpPr txBox="1"/>
          <p:nvPr/>
        </p:nvSpPr>
        <p:spPr>
          <a:xfrm>
            <a:off x="678425" y="4603590"/>
            <a:ext cx="1750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Who needs help?</a:t>
            </a:r>
          </a:p>
          <a:p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640AEC-D358-CD72-41EE-2BE41E085D0D}"/>
              </a:ext>
            </a:extLst>
          </p:cNvPr>
          <p:cNvSpPr txBox="1"/>
          <p:nvPr/>
        </p:nvSpPr>
        <p:spPr>
          <a:xfrm>
            <a:off x="2903818" y="4603590"/>
            <a:ext cx="2499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What should the device detect 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2E632B-B6C9-B956-1EC9-7FCD22C04DC2}"/>
              </a:ext>
            </a:extLst>
          </p:cNvPr>
          <p:cNvSpPr txBox="1"/>
          <p:nvPr/>
        </p:nvSpPr>
        <p:spPr>
          <a:xfrm>
            <a:off x="5981228" y="4603590"/>
            <a:ext cx="2093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What should happen next?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1F72B3-6794-8397-4F8D-C31937E763FB}"/>
              </a:ext>
            </a:extLst>
          </p:cNvPr>
          <p:cNvSpPr txBox="1"/>
          <p:nvPr/>
        </p:nvSpPr>
        <p:spPr>
          <a:xfrm>
            <a:off x="8711868" y="4603590"/>
            <a:ext cx="1539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Why does </a:t>
            </a:r>
          </a:p>
          <a:p>
            <a:pPr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it matter ?</a:t>
            </a:r>
          </a:p>
        </p:txBody>
      </p:sp>
    </p:spTree>
    <p:extLst>
      <p:ext uri="{BB962C8B-B14F-4D97-AF65-F5344CB8AC3E}">
        <p14:creationId xmlns:p14="http://schemas.microsoft.com/office/powerpoint/2010/main" val="243781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D8DD-4C28-8C4A-6BEA-BD1319B8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BD340C-3668-DC32-136A-6743A11A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Three starting points for your idea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FCBF536-60DD-079D-141E-56843CAF3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751342"/>
              </p:ext>
            </p:extLst>
          </p:nvPr>
        </p:nvGraphicFramePr>
        <p:xfrm>
          <a:off x="1209495" y="1831583"/>
          <a:ext cx="977301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670">
                  <a:extLst>
                    <a:ext uri="{9D8B030D-6E8A-4147-A177-3AD203B41FA5}">
                      <a16:colId xmlns:a16="http://schemas.microsoft.com/office/drawing/2014/main" val="2715474635"/>
                    </a:ext>
                  </a:extLst>
                </a:gridCol>
                <a:gridCol w="3257670">
                  <a:extLst>
                    <a:ext uri="{9D8B030D-6E8A-4147-A177-3AD203B41FA5}">
                      <a16:colId xmlns:a16="http://schemas.microsoft.com/office/drawing/2014/main" val="923709512"/>
                    </a:ext>
                  </a:extLst>
                </a:gridCol>
                <a:gridCol w="3257670">
                  <a:extLst>
                    <a:ext uri="{9D8B030D-6E8A-4147-A177-3AD203B41FA5}">
                      <a16:colId xmlns:a16="http://schemas.microsoft.com/office/drawing/2014/main" val="3470875716"/>
                    </a:ext>
                  </a:extLst>
                </a:gridCol>
              </a:tblGrid>
              <a:tr h="3118909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Mobile workshop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Equipment and operational security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Tool detection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Missing-item checks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Loading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Dangerous goods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Load conditions and safety awareness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Gas-cylinder detection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Storage alerts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Safety-equipment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Animal transport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Live cargo and transit conditions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 err="1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Behavior</a:t>
                      </a: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 monitoring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Unusual movement</a:t>
                      </a:r>
                    </a:p>
                    <a:p>
                      <a:pPr algn="l"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Positioning indicators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666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CA362D0-CDD3-B3A6-1CBE-67FDA51484B2}"/>
              </a:ext>
            </a:extLst>
          </p:cNvPr>
          <p:cNvSpPr txBox="1"/>
          <p:nvPr/>
        </p:nvSpPr>
        <p:spPr>
          <a:xfrm>
            <a:off x="909431" y="5575848"/>
            <a:ext cx="10660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Choose One User, One Observable Event, And One Useful Response.</a:t>
            </a:r>
          </a:p>
        </p:txBody>
      </p:sp>
    </p:spTree>
    <p:extLst>
      <p:ext uri="{BB962C8B-B14F-4D97-AF65-F5344CB8AC3E}">
        <p14:creationId xmlns:p14="http://schemas.microsoft.com/office/powerpoint/2010/main" val="269156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39F3-0380-59AE-BCA6-EEB0E4AE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412B803-0827-8447-4AAB-0AC51EEE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A complete device-to-vehicle loop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5538C2-CF87-6D79-D994-2AC73512F80F}"/>
              </a:ext>
            </a:extLst>
          </p:cNvPr>
          <p:cNvSpPr/>
          <p:nvPr/>
        </p:nvSpPr>
        <p:spPr>
          <a:xfrm>
            <a:off x="516658" y="2500211"/>
            <a:ext cx="2178415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Camera 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4EE85-89E6-3ADF-7BEE-D944A0390612}"/>
              </a:ext>
            </a:extLst>
          </p:cNvPr>
          <p:cNvSpPr txBox="1"/>
          <p:nvPr/>
        </p:nvSpPr>
        <p:spPr>
          <a:xfrm>
            <a:off x="698465" y="3812337"/>
            <a:ext cx="181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Driver state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A3F18-7A89-20D3-5283-49995AC767F1}"/>
              </a:ext>
            </a:extLst>
          </p:cNvPr>
          <p:cNvSpPr txBox="1"/>
          <p:nvPr/>
        </p:nvSpPr>
        <p:spPr>
          <a:xfrm>
            <a:off x="3321356" y="3799061"/>
            <a:ext cx="21483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Event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interpreted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D72758-4F51-E73B-6EDF-42E77FEF2C5A}"/>
              </a:ext>
            </a:extLst>
          </p:cNvPr>
          <p:cNvSpPr txBox="1"/>
          <p:nvPr/>
        </p:nvSpPr>
        <p:spPr>
          <a:xfrm>
            <a:off x="5994081" y="3812337"/>
            <a:ext cx="2547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Headlights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and horn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0CC07-F66D-30E0-7D53-7402AC241A5F}"/>
              </a:ext>
            </a:extLst>
          </p:cNvPr>
          <p:cNvSpPr txBox="1"/>
          <p:nvPr/>
        </p:nvSpPr>
        <p:spPr>
          <a:xfrm>
            <a:off x="515937" y="5011789"/>
            <a:ext cx="107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800" b="1" dirty="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  <a:ea typeface="Consolas"/>
                <a:cs typeface="Consolas"/>
              </a:rPr>
              <a:t>The audience should be able to follow the cause and effect.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AB8F98-3A31-79BC-B914-D1FCDB24A233}"/>
              </a:ext>
            </a:extLst>
          </p:cNvPr>
          <p:cNvSpPr txBox="1"/>
          <p:nvPr/>
        </p:nvSpPr>
        <p:spPr>
          <a:xfrm>
            <a:off x="515937" y="1446372"/>
            <a:ext cx="10234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4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Reference scenario: driver drowsiness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CF655B4-815A-ECBB-ECCB-96FCF33EBC3F}"/>
              </a:ext>
            </a:extLst>
          </p:cNvPr>
          <p:cNvSpPr/>
          <p:nvPr/>
        </p:nvSpPr>
        <p:spPr>
          <a:xfrm>
            <a:off x="3223712" y="2500210"/>
            <a:ext cx="2343649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rgbClr val="FFFFFF"/>
                </a:solidFill>
              </a:rPr>
              <a:t>digital.auto</a:t>
            </a:r>
            <a:r>
              <a:rPr lang="en-IN" dirty="0">
                <a:solidFill>
                  <a:srgbClr val="FFFFFF"/>
                </a:solidFill>
              </a:rPr>
              <a:t> logic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5318E4-2604-6079-7E44-BCB83FFC8534}"/>
              </a:ext>
            </a:extLst>
          </p:cNvPr>
          <p:cNvSpPr/>
          <p:nvPr/>
        </p:nvSpPr>
        <p:spPr>
          <a:xfrm>
            <a:off x="6096000" y="2500210"/>
            <a:ext cx="2343649" cy="117888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ED5025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Vehicle response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B1338BD-0E29-233C-5E7D-3AC1430154B8}"/>
              </a:ext>
            </a:extLst>
          </p:cNvPr>
          <p:cNvSpPr/>
          <p:nvPr/>
        </p:nvSpPr>
        <p:spPr>
          <a:xfrm>
            <a:off x="8968288" y="2500210"/>
            <a:ext cx="2343649" cy="11788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FF"/>
                </a:solidFill>
              </a:rPr>
              <a:t>Visible evidence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010558-2BCD-4038-492B-8B709C59051E}"/>
              </a:ext>
            </a:extLst>
          </p:cNvPr>
          <p:cNvSpPr txBox="1"/>
          <p:nvPr/>
        </p:nvSpPr>
        <p:spPr>
          <a:xfrm>
            <a:off x="8866369" y="3812337"/>
            <a:ext cx="2547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Dashboard </a:t>
            </a:r>
          </a:p>
          <a:p>
            <a:pPr algn="ctr">
              <a:defRPr sz="2419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0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and logs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85A1A8-A8DE-7816-D83E-14D5A7E59853}"/>
              </a:ext>
            </a:extLst>
          </p:cNvPr>
          <p:cNvCxnSpPr>
            <a:stCxn id="6" idx="3"/>
            <a:endCxn id="35" idx="1"/>
          </p:cNvCxnSpPr>
          <p:nvPr/>
        </p:nvCxnSpPr>
        <p:spPr>
          <a:xfrm flipV="1">
            <a:off x="2695073" y="3089654"/>
            <a:ext cx="52863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420BF46-FA45-CA99-0DE0-14201212FF45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5567361" y="3089654"/>
            <a:ext cx="5286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B5ABE2F-30E7-1698-052E-A925C8C46445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8439649" y="3089654"/>
            <a:ext cx="5286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60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CF62-D574-81EE-DC2B-6ED1466F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5D8B050-FA0B-3B4B-0C53-68B97F52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Your technical starting 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53038-2362-7712-6412-0D242C3D53FF}"/>
              </a:ext>
            </a:extLst>
          </p:cNvPr>
          <p:cNvSpPr txBox="1"/>
          <p:nvPr/>
        </p:nvSpPr>
        <p:spPr>
          <a:xfrm>
            <a:off x="1969352" y="2325292"/>
            <a:ext cx="4017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32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Consolas"/>
                <a:cs typeface="Consolas"/>
              </a:rPr>
              <a:t>reference cameras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EAB18-F91E-BC45-4500-DB2A9D8A0A20}"/>
              </a:ext>
            </a:extLst>
          </p:cNvPr>
          <p:cNvSpPr txBox="1"/>
          <p:nvPr/>
        </p:nvSpPr>
        <p:spPr>
          <a:xfrm>
            <a:off x="831967" y="1802072"/>
            <a:ext cx="8813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9600" b="1" dirty="0">
                <a:solidFill>
                  <a:schemeClr val="accent5"/>
                </a:solidFill>
                <a:latin typeface="+mj-lt"/>
                <a:ea typeface="Consolas"/>
                <a:cs typeface="Consolas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12692-4078-D5A3-9C99-0F9B27BAC400}"/>
              </a:ext>
            </a:extLst>
          </p:cNvPr>
          <p:cNvSpPr txBox="1"/>
          <p:nvPr/>
        </p:nvSpPr>
        <p:spPr>
          <a:xfrm>
            <a:off x="652696" y="3490885"/>
            <a:ext cx="6285114" cy="103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70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07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Live feeds and dynamic snapshots</a:t>
            </a:r>
          </a:p>
          <a:p>
            <a:pPr algn="ctr">
              <a:defRPr sz="3070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07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for computer-vision applications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6D4F83-7882-7894-83E7-CA4A52566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266747"/>
              </p:ext>
            </p:extLst>
          </p:nvPr>
        </p:nvGraphicFramePr>
        <p:xfrm>
          <a:off x="7781224" y="1571719"/>
          <a:ext cx="3758080" cy="3838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080">
                  <a:extLst>
                    <a:ext uri="{9D8B030D-6E8A-4147-A177-3AD203B41FA5}">
                      <a16:colId xmlns:a16="http://schemas.microsoft.com/office/drawing/2014/main" val="1380681887"/>
                    </a:ext>
                  </a:extLst>
                </a:gridCol>
              </a:tblGrid>
              <a:tr h="383833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0503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1EB7DC-393A-F8F6-7F3B-C500F2DDE88C}"/>
              </a:ext>
            </a:extLst>
          </p:cNvPr>
          <p:cNvSpPr txBox="1"/>
          <p:nvPr/>
        </p:nvSpPr>
        <p:spPr>
          <a:xfrm>
            <a:off x="7986316" y="1704651"/>
            <a:ext cx="3347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800" b="1" dirty="0">
                <a:solidFill>
                  <a:schemeClr val="accent5"/>
                </a:solidFill>
                <a:latin typeface="+mj-lt"/>
                <a:ea typeface="Consolas"/>
                <a:cs typeface="Consolas"/>
              </a:rPr>
              <a:t>Sensor Expansion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301C5C-946D-65F4-A173-BAC43C61DD60}"/>
              </a:ext>
            </a:extLst>
          </p:cNvPr>
          <p:cNvSpPr txBox="1"/>
          <p:nvPr/>
        </p:nvSpPr>
        <p:spPr>
          <a:xfrm>
            <a:off x="8051279" y="2439828"/>
            <a:ext cx="3256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3163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Radar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3163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Bosch Gas-Sensor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3163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4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Particulate-Matter sensor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343DF4-FAA2-EA32-4133-02AD9B1E0D3B}"/>
              </a:ext>
            </a:extLst>
          </p:cNvPr>
          <p:cNvSpPr txBox="1"/>
          <p:nvPr/>
        </p:nvSpPr>
        <p:spPr>
          <a:xfrm>
            <a:off x="7935455" y="4701506"/>
            <a:ext cx="34496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12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1600" b="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*Available </a:t>
            </a:r>
            <a:r>
              <a:rPr lang="en-IN" sz="1600" dirty="0">
                <a:solidFill>
                  <a:srgbClr val="30414C"/>
                </a:solidFill>
                <a:latin typeface="Arial"/>
                <a:ea typeface="Arial"/>
                <a:cs typeface="Arial"/>
              </a:rPr>
              <a:t>on request, Self-setup with mentor coordination</a:t>
            </a:r>
            <a:endParaRPr lang="en-IN" sz="1600" b="0" dirty="0">
              <a:solidFill>
                <a:srgbClr val="30414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300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CCDD-FF46-6FE9-3659-F12A21E5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3921C34-42E9-EC36-6475-51B7F159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Building with </a:t>
            </a:r>
            <a:r>
              <a:rPr lang="en-IN" dirty="0" err="1"/>
              <a:t>digital.auto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DC04C-E170-3F11-66E0-103D0305FA04}"/>
              </a:ext>
            </a:extLst>
          </p:cNvPr>
          <p:cNvSpPr>
            <a:spLocks noGrp="1"/>
          </p:cNvSpPr>
          <p:nvPr/>
        </p:nvSpPr>
        <p:spPr>
          <a:xfrm>
            <a:off x="515937" y="1488557"/>
            <a:ext cx="9731449" cy="4961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070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A workspace for your code, vehicle APIs, and visible behavior.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9FF56-349E-7C07-3C12-22962375AAB4}"/>
              </a:ext>
            </a:extLst>
          </p:cNvPr>
          <p:cNvSpPr>
            <a:spLocks noGrp="1"/>
          </p:cNvSpPr>
          <p:nvPr/>
        </p:nvSpPr>
        <p:spPr>
          <a:xfrm>
            <a:off x="515937" y="2442395"/>
            <a:ext cx="766173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CC5AF1-5C56-48C4-CD5D-9614DBCCF8FB}"/>
              </a:ext>
            </a:extLst>
          </p:cNvPr>
          <p:cNvSpPr>
            <a:spLocks noGrp="1"/>
          </p:cNvSpPr>
          <p:nvPr/>
        </p:nvSpPr>
        <p:spPr>
          <a:xfrm>
            <a:off x="515938" y="3313671"/>
            <a:ext cx="2698900" cy="7822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Choose the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hackathon vehicle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D1BA30-9ACE-E483-E8D7-D19F57045A9E}"/>
              </a:ext>
            </a:extLst>
          </p:cNvPr>
          <p:cNvSpPr>
            <a:spLocks noGrp="1"/>
          </p:cNvSpPr>
          <p:nvPr/>
        </p:nvSpPr>
        <p:spPr>
          <a:xfrm>
            <a:off x="3802929" y="2442395"/>
            <a:ext cx="766173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AE66B2-212D-717B-6E81-A2A129D65424}"/>
              </a:ext>
            </a:extLst>
          </p:cNvPr>
          <p:cNvSpPr>
            <a:spLocks noGrp="1"/>
          </p:cNvSpPr>
          <p:nvPr/>
        </p:nvSpPr>
        <p:spPr>
          <a:xfrm>
            <a:off x="3660219" y="3264942"/>
            <a:ext cx="1989815" cy="8309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Create your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team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D14C1-353D-964B-0742-90ACB4D3481F}"/>
              </a:ext>
            </a:extLst>
          </p:cNvPr>
          <p:cNvSpPr>
            <a:spLocks noGrp="1"/>
          </p:cNvSpPr>
          <p:nvPr/>
        </p:nvSpPr>
        <p:spPr>
          <a:xfrm>
            <a:off x="6803619" y="2442395"/>
            <a:ext cx="766174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94A48A-D160-F1E3-8CC1-3907CDECEC67}"/>
              </a:ext>
            </a:extLst>
          </p:cNvPr>
          <p:cNvSpPr>
            <a:spLocks noGrp="1"/>
          </p:cNvSpPr>
          <p:nvPr/>
        </p:nvSpPr>
        <p:spPr>
          <a:xfrm>
            <a:off x="6780602" y="3248696"/>
            <a:ext cx="1574791" cy="8309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Build in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SDV Code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8CA9D5-DE03-EE7D-A12C-4485184EC2A8}"/>
              </a:ext>
            </a:extLst>
          </p:cNvPr>
          <p:cNvSpPr>
            <a:spLocks noGrp="1"/>
          </p:cNvSpPr>
          <p:nvPr/>
        </p:nvSpPr>
        <p:spPr>
          <a:xfrm>
            <a:off x="9274176" y="2442395"/>
            <a:ext cx="766174" cy="10018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047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IN" sz="440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4</a:t>
            </a:r>
            <a:endParaRPr sz="4400" b="1" dirty="0">
              <a:solidFill>
                <a:schemeClr val="accent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F7CFBE-AAEB-9C5E-9FF6-41797C1A5D49}"/>
              </a:ext>
            </a:extLst>
          </p:cNvPr>
          <p:cNvSpPr>
            <a:spLocks noGrp="1"/>
          </p:cNvSpPr>
          <p:nvPr/>
        </p:nvSpPr>
        <p:spPr>
          <a:xfrm>
            <a:off x="9251159" y="3248696"/>
            <a:ext cx="2780420" cy="847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Configure The</a:t>
            </a:r>
          </a:p>
          <a:p>
            <a:pPr algn="l">
              <a:defRPr sz="2884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22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Assigned Runtime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216E8D-8A2E-1A12-5FC3-F5E16864BDAD}"/>
              </a:ext>
            </a:extLst>
          </p:cNvPr>
          <p:cNvSpPr txBox="1"/>
          <p:nvPr/>
        </p:nvSpPr>
        <p:spPr>
          <a:xfrm>
            <a:off x="515937" y="4577624"/>
            <a:ext cx="11160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+mj-lt"/>
              </a:rPr>
              <a:t>Dashboard plugins and API values help you inspect the device-to-vehicle loop.</a:t>
            </a:r>
            <a:endParaRPr lang="en-IN" sz="24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8245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064B-AE72-220B-DF37-994B1DC0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FE8ED6C-3FC4-FEE6-0DB9-F164F406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Beyond the reference camera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16FDE-E0CD-7FEA-B3D8-3E7C5014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15937" y="1321849"/>
            <a:ext cx="5580063" cy="41533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D06BC6-8C12-3224-3CAE-91DF914A2900}"/>
              </a:ext>
            </a:extLst>
          </p:cNvPr>
          <p:cNvSpPr>
            <a:spLocks noGrp="1"/>
          </p:cNvSpPr>
          <p:nvPr/>
        </p:nvSpPr>
        <p:spPr>
          <a:xfrm>
            <a:off x="6290545" y="1321849"/>
            <a:ext cx="4720756" cy="13189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63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What other devices would</a:t>
            </a:r>
          </a:p>
          <a:p>
            <a:pPr algn="l">
              <a:defRPr sz="3163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improve your application?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9E2F4-A288-6F7B-3C52-04FCAC06280B}"/>
              </a:ext>
            </a:extLst>
          </p:cNvPr>
          <p:cNvSpPr>
            <a:spLocks noGrp="1"/>
          </p:cNvSpPr>
          <p:nvPr/>
        </p:nvSpPr>
        <p:spPr>
          <a:xfrm>
            <a:off x="6290545" y="2667392"/>
            <a:ext cx="4845884" cy="8831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30414C"/>
                </a:solidFill>
                <a:ea typeface="Arial"/>
                <a:cs typeface="Arial"/>
              </a:rPr>
              <a:t>What vehicle data would they need?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1A8414-2165-EC2C-DF52-14B9B9B6DB32}"/>
              </a:ext>
            </a:extLst>
          </p:cNvPr>
          <p:cNvSpPr>
            <a:spLocks noGrp="1"/>
          </p:cNvSpPr>
          <p:nvPr/>
        </p:nvSpPr>
        <p:spPr>
          <a:xfrm>
            <a:off x="6290545" y="4004878"/>
            <a:ext cx="4845884" cy="13376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30414C"/>
                </a:solidFill>
                <a:ea typeface="Arial"/>
                <a:cs typeface="Arial"/>
              </a:rPr>
              <a:t>How would discovery, onboarding,</a:t>
            </a:r>
          </a:p>
          <a:p>
            <a:pPr algn="l">
              <a:defRPr sz="2884" b="0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30414C"/>
                </a:solidFill>
                <a:ea typeface="Arial"/>
                <a:cs typeface="Arial"/>
              </a:rPr>
              <a:t>and permissions work?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2EF73-FC01-429A-2357-868FFFCC571E}"/>
              </a:ext>
            </a:extLst>
          </p:cNvPr>
          <p:cNvSpPr txBox="1"/>
          <p:nvPr/>
        </p:nvSpPr>
        <p:spPr>
          <a:xfrm>
            <a:off x="515937" y="5796936"/>
            <a:ext cx="8241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400" b="1" dirty="0">
                <a:solidFill>
                  <a:srgbClr val="ED5025"/>
                </a:solidFill>
                <a:latin typeface="+mj-lt"/>
                <a:ea typeface="Consolas"/>
                <a:cs typeface="Consolas"/>
              </a:rPr>
              <a:t>Show what works now. Explain the next integration.</a:t>
            </a:r>
          </a:p>
        </p:txBody>
      </p:sp>
    </p:spTree>
    <p:extLst>
      <p:ext uri="{BB962C8B-B14F-4D97-AF65-F5344CB8AC3E}">
        <p14:creationId xmlns:p14="http://schemas.microsoft.com/office/powerpoint/2010/main" val="203743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04A27-2D5D-C025-CFD3-0FEEC462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A430749-6575-2A5C-6212-AABA3006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What teams should bring back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6A8479-C825-31D8-608D-D4FA06749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214617"/>
              </p:ext>
            </p:extLst>
          </p:nvPr>
        </p:nvGraphicFramePr>
        <p:xfrm>
          <a:off x="1209493" y="1831582"/>
          <a:ext cx="10119442" cy="2827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721">
                  <a:extLst>
                    <a:ext uri="{9D8B030D-6E8A-4147-A177-3AD203B41FA5}">
                      <a16:colId xmlns:a16="http://schemas.microsoft.com/office/drawing/2014/main" val="2715474635"/>
                    </a:ext>
                  </a:extLst>
                </a:gridCol>
                <a:gridCol w="5059721">
                  <a:extLst>
                    <a:ext uri="{9D8B030D-6E8A-4147-A177-3AD203B41FA5}">
                      <a16:colId xmlns:a16="http://schemas.microsoft.com/office/drawing/2014/main" val="923709512"/>
                    </a:ext>
                  </a:extLst>
                </a:gridCol>
              </a:tblGrid>
              <a:tr h="2827045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Core outcome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Working prototype / proof of concept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Clear use-case description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Accessible source code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Functional demonstration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Explanation of the BYOD integration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Useful additions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Architecture diagram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Extension concept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Platform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66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F62E3D-A5BF-7F07-BF54-93C0FD1E7647}"/>
              </a:ext>
            </a:extLst>
          </p:cNvPr>
          <p:cNvSpPr txBox="1"/>
          <p:nvPr/>
        </p:nvSpPr>
        <p:spPr>
          <a:xfrm>
            <a:off x="1690756" y="4879405"/>
            <a:ext cx="91087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12" b="1">
                <a:solidFill>
                  <a:srgbClr val="239FB2"/>
                </a:solidFill>
                <a:latin typeface="Consolas"/>
                <a:ea typeface="Consolas"/>
                <a:cs typeface="Consolas"/>
              </a:defRPr>
            </a:pPr>
            <a:r>
              <a:rPr lang="en-IN" sz="2800" b="1" dirty="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  <a:ea typeface="Consolas"/>
                <a:cs typeface="Consolas"/>
              </a:rPr>
              <a:t>Make the device input, the response, and the user benefit easy to see.</a:t>
            </a:r>
          </a:p>
        </p:txBody>
      </p:sp>
    </p:spTree>
    <p:extLst>
      <p:ext uri="{BB962C8B-B14F-4D97-AF65-F5344CB8AC3E}">
        <p14:creationId xmlns:p14="http://schemas.microsoft.com/office/powerpoint/2010/main" val="178768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80B9A-ABB5-5E13-1C57-C389AAE6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0F665A2-1C38-190F-AA6C-8741776F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What makes a strong outcome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32A5D9-825A-A1F6-F720-8BA3F8996E6D}"/>
              </a:ext>
            </a:extLst>
          </p:cNvPr>
          <p:cNvGraphicFramePr>
            <a:graphicFrameLocks noGrp="1"/>
          </p:cNvGraphicFramePr>
          <p:nvPr/>
        </p:nvGraphicFramePr>
        <p:xfrm>
          <a:off x="1209494" y="1831582"/>
          <a:ext cx="9426422" cy="4174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3211">
                  <a:extLst>
                    <a:ext uri="{9D8B030D-6E8A-4147-A177-3AD203B41FA5}">
                      <a16:colId xmlns:a16="http://schemas.microsoft.com/office/drawing/2014/main" val="2715474635"/>
                    </a:ext>
                  </a:extLst>
                </a:gridCol>
                <a:gridCol w="4713211">
                  <a:extLst>
                    <a:ext uri="{9D8B030D-6E8A-4147-A177-3AD203B41FA5}">
                      <a16:colId xmlns:a16="http://schemas.microsoft.com/office/drawing/2014/main" val="923709512"/>
                    </a:ext>
                  </a:extLst>
                </a:gridCol>
              </a:tblGrid>
              <a:tr h="4174581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Problem &amp; value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Problem relevance</a:t>
                      </a: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User value</a:t>
                      </a: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Working implementation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Technical implementation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Use of </a:t>
                      </a:r>
                      <a:r>
                        <a:rPr lang="en-IN" sz="1800" b="0" dirty="0" err="1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digital.auto</a:t>
                      </a:r>
                      <a:endParaRPr lang="en-IN" sz="1800" b="0" dirty="0">
                        <a:solidFill>
                          <a:srgbClr val="ED5025"/>
                        </a:solidFill>
                        <a:latin typeface="+mj-lt"/>
                        <a:ea typeface="Arial"/>
                        <a:cs typeface="Arial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Demo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Solution concept</a:t>
                      </a:r>
                    </a:p>
                    <a:p>
                      <a:endParaRPr lang="en-IN" dirty="0">
                        <a:solidFill>
                          <a:schemeClr val="tx2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Creativity</a:t>
                      </a:r>
                    </a:p>
                    <a:p>
                      <a:r>
                        <a:rPr lang="en-IN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BYOD integration concept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Future integration</a:t>
                      </a:r>
                    </a:p>
                    <a:p>
                      <a:endParaRPr lang="en-IN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  <a:defRPr sz="2605" b="0">
                          <a:solidFill>
                            <a:srgbClr val="30414C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IN" sz="1800" b="0" dirty="0">
                          <a:solidFill>
                            <a:srgbClr val="ED5025"/>
                          </a:solidFill>
                          <a:latin typeface="+mj-lt"/>
                          <a:ea typeface="Arial"/>
                          <a:cs typeface="Arial"/>
                        </a:rPr>
                        <a:t>Scalability to additional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6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53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B551-7291-5F34-0621-571235D9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A2BC5C4-A125-9091-F0E0-F0833892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0859"/>
            <a:ext cx="9163771" cy="392798"/>
          </a:xfrm>
        </p:spPr>
        <p:txBody>
          <a:bodyPr/>
          <a:lstStyle/>
          <a:p>
            <a:r>
              <a:rPr lang="en-IN" dirty="0"/>
              <a:t>What would you connect?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DF2A8-B6B6-9425-8522-6D46AAD1FFB4}"/>
              </a:ext>
            </a:extLst>
          </p:cNvPr>
          <p:cNvSpPr txBox="1"/>
          <p:nvPr/>
        </p:nvSpPr>
        <p:spPr>
          <a:xfrm>
            <a:off x="515937" y="1850872"/>
            <a:ext cx="93504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What would you connect</a:t>
            </a:r>
          </a:p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4400" b="1" dirty="0">
                <a:solidFill>
                  <a:srgbClr val="30414C"/>
                </a:solidFill>
                <a:latin typeface="+mj-lt"/>
                <a:ea typeface="Arial"/>
                <a:cs typeface="Arial"/>
              </a:rPr>
              <a:t>to make someone’s job better?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5E7F6-1261-143C-17A0-2954F073B5D1}"/>
              </a:ext>
            </a:extLst>
          </p:cNvPr>
          <p:cNvSpPr txBox="1"/>
          <p:nvPr/>
        </p:nvSpPr>
        <p:spPr>
          <a:xfrm>
            <a:off x="515937" y="3815741"/>
            <a:ext cx="10822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200" b="1" dirty="0">
                <a:solidFill>
                  <a:schemeClr val="accent4"/>
                </a:solidFill>
                <a:latin typeface="+mj-lt"/>
                <a:ea typeface="Arial"/>
                <a:cs typeface="Arial"/>
              </a:rPr>
              <a:t>Choose a user. Build the loop. Make the value visible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B0A04-8A63-338E-74CD-AFCBB48953A2}"/>
              </a:ext>
            </a:extLst>
          </p:cNvPr>
          <p:cNvSpPr txBox="1"/>
          <p:nvPr/>
        </p:nvSpPr>
        <p:spPr>
          <a:xfrm>
            <a:off x="515937" y="4918835"/>
            <a:ext cx="10822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302" b="1">
                <a:solidFill>
                  <a:srgbClr val="30414C"/>
                </a:solidFill>
                <a:latin typeface="Arial"/>
                <a:ea typeface="Arial"/>
                <a:cs typeface="Arial"/>
              </a:defRPr>
            </a:pPr>
            <a:r>
              <a:rPr lang="en-IN" sz="3200" b="1" dirty="0">
                <a:solidFill>
                  <a:srgbClr val="ED5025"/>
                </a:solidFill>
                <a:latin typeface="+mj-lt"/>
                <a:ea typeface="Arial"/>
                <a:cs typeface="Arial"/>
              </a:rPr>
              <a:t>Bring your idea to the BYOD challenge.</a:t>
            </a:r>
          </a:p>
        </p:txBody>
      </p:sp>
    </p:spTree>
    <p:extLst>
      <p:ext uri="{BB962C8B-B14F-4D97-AF65-F5344CB8AC3E}">
        <p14:creationId xmlns:p14="http://schemas.microsoft.com/office/powerpoint/2010/main" val="516186252"/>
      </p:ext>
    </p:extLst>
  </p:cSld>
  <p:clrMapOvr>
    <a:masterClrMapping/>
  </p:clrMapOvr>
</p:sld>
</file>

<file path=ppt/theme/theme1.xml><?xml version="1.0" encoding="utf-8"?>
<a:theme xmlns:a="http://schemas.openxmlformats.org/drawingml/2006/main" name="FSTI 2024">
  <a:themeElements>
    <a:clrScheme name="FSTI">
      <a:dk1>
        <a:srgbClr val="003F63"/>
      </a:dk1>
      <a:lt1>
        <a:srgbClr val="FFFFFF"/>
      </a:lt1>
      <a:dk2>
        <a:srgbClr val="000000"/>
      </a:dk2>
      <a:lt2>
        <a:srgbClr val="7D7D7D"/>
      </a:lt2>
      <a:accent1>
        <a:srgbClr val="99B2C1"/>
      </a:accent1>
      <a:accent2>
        <a:srgbClr val="CBCBCB"/>
      </a:accent2>
      <a:accent3>
        <a:srgbClr val="999999"/>
      </a:accent3>
      <a:accent4>
        <a:srgbClr val="6CC0D8"/>
      </a:accent4>
      <a:accent5>
        <a:srgbClr val="ED5025"/>
      </a:accent5>
      <a:accent6>
        <a:srgbClr val="55A856"/>
      </a:accent6>
      <a:hlink>
        <a:srgbClr val="0563C1"/>
      </a:hlink>
      <a:folHlink>
        <a:srgbClr val="954F72"/>
      </a:folHlink>
    </a:clrScheme>
    <a:fontScheme name="FSTI">
      <a:majorFont>
        <a:latin typeface="Montserrat Medium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EA54A360D3500438B391A390F645006" ma:contentTypeVersion="20" ma:contentTypeDescription="Ein neues Dokument erstellen." ma:contentTypeScope="" ma:versionID="49f80b49109cdaff4939066ba709cdca">
  <xsd:schema xmlns:xsd="http://www.w3.org/2001/XMLSchema" xmlns:xs="http://www.w3.org/2001/XMLSchema" xmlns:p="http://schemas.microsoft.com/office/2006/metadata/properties" xmlns:ns1="http://schemas.microsoft.com/sharepoint/v3" xmlns:ns2="5fbcf22b-8418-494c-b2af-d1a374be1144" xmlns:ns3="bdeb7b8f-4c7a-4680-94fe-77cbe8310f20" xmlns:ns4="8fd00c8e-15ef-4933-abb3-2147f4add389" targetNamespace="http://schemas.microsoft.com/office/2006/metadata/properties" ma:root="true" ma:fieldsID="1f7c7dad84dbfbe494a6000fe8ec046b" ns1:_="" ns2:_="" ns3:_="" ns4:_="">
    <xsd:import namespace="http://schemas.microsoft.com/sharepoint/v3"/>
    <xsd:import namespace="5fbcf22b-8418-494c-b2af-d1a374be1144"/>
    <xsd:import namespace="bdeb7b8f-4c7a-4680-94fe-77cbe8310f20"/>
    <xsd:import namespace="8fd00c8e-15ef-4933-abb3-2147f4add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zfaj" minOccurs="0"/>
                <xsd:element ref="ns4:TaxKeywordTaxHTField" minOccurs="0"/>
                <xsd:element ref="ns4:TaxCatchAll" minOccurs="0"/>
                <xsd:element ref="ns4:TaxCatchAllLabel" minOccurs="0"/>
                <xsd:element ref="ns1:DocumentSetDescription" minOccurs="0"/>
                <xsd:element ref="ns4:Projekt-Nr." minOccurs="0"/>
                <xsd:element ref="ns4:Weiteres_x0020_Telefon_x003a_Projekt-Nr.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DocumentSetDescription" ma:index="26" nillable="true" ma:displayName="Beschreibung" ma:description="Eine Beschreibung der Dokumentenmappe" ma:internalName="DocumentSetDescription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cf22b-8418-494c-b2af-d1a374be11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zfaj" ma:index="21" nillable="true" ma:displayName="Person or Group" ma:list="UserInfo" ma:internalName="zfaj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LengthInSeconds" ma:index="2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1" nillable="true" ma:taxonomy="true" ma:internalName="lcf76f155ced4ddcb4097134ff3c332f" ma:taxonomyFieldName="MediaServiceImageTags" ma:displayName="Bildmarkierungen" ma:readOnly="false" ma:fieldId="{5cf76f15-5ced-4ddc-b409-7134ff3c332f}" ma:taxonomyMulti="true" ma:sspId="2b700ae8-47fc-41f6-82bf-596d14966ae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eb7b8f-4c7a-4680-94fe-77cbe8310f2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d00c8e-15ef-4933-abb3-2147f4add38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22" nillable="true" ma:taxonomy="true" ma:internalName="TaxKeywordTaxHTField" ma:taxonomyFieldName="TaxKeyword" ma:displayName="Schlagwörter" ma:fieldId="{23f27201-bee3-471e-b2e7-b64fd8b7ca38}" ma:taxonomyMulti="true" ma:sspId="2b700ae8-47fc-41f6-82bf-596d14966ae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3" nillable="true" ma:displayName="Taxonomy Catch All Column" ma:hidden="true" ma:list="{b3e9d46d-201e-42f2-b15e-493523bc0a57}" ma:internalName="TaxCatchAll" ma:showField="CatchAllData" ma:web="8fd00c8e-15ef-4933-abb3-2147f4add3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4" nillable="true" ma:displayName="Taxonomy Catch All Column1" ma:hidden="true" ma:list="{b3e9d46d-201e-42f2-b15e-493523bc0a57}" ma:internalName="TaxCatchAllLabel" ma:readOnly="true" ma:showField="CatchAllDataLabel" ma:web="8fd00c8e-15ef-4933-abb3-2147f4add3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ojekt-Nr." ma:index="27" nillable="true" ma:displayName="Projekt" ma:list="{3b1159c7-bae6-4df5-b283-b937c700ffc4}" ma:internalName="Projekt_x002d_Nr_x002e_" ma:showField="Title" ma:web="8fd00c8e-15ef-4933-abb3-2147f4add389">
      <xsd:simpleType>
        <xsd:restriction base="dms:Lookup"/>
      </xsd:simpleType>
    </xsd:element>
    <xsd:element name="Weiteres_x0020_Telefon_x003a_Projekt-Nr." ma:index="28" nillable="true" ma:displayName="Weiteres Telefon:Projekt-Nr." ma:hidden="true" ma:list="{3b1159c7-bae6-4df5-b283-b937c700ffc4}" ma:internalName="Weiteres_x0020_Telefon_x003A_Projekt_x002d_Nr_x002e_" ma:readOnly="true" ma:showField="ID" ma:web="8fd00c8e-15ef-4933-abb3-2147f4add389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d00c8e-15ef-4933-abb3-2147f4add389" xsi:nil="true"/>
    <lcf76f155ced4ddcb4097134ff3c332f xmlns="5fbcf22b-8418-494c-b2af-d1a374be1144">
      <Terms xmlns="http://schemas.microsoft.com/office/infopath/2007/PartnerControls"/>
    </lcf76f155ced4ddcb4097134ff3c332f>
    <DocumentSetDescription xmlns="http://schemas.microsoft.com/sharepoint/v3" xsi:nil="true"/>
    <Projekt-Nr. xmlns="8fd00c8e-15ef-4933-abb3-2147f4add389">2469</Projekt-Nr.>
    <zfaj xmlns="5fbcf22b-8418-494c-b2af-d1a374be1144">
      <UserInfo>
        <DisplayName/>
        <AccountId xsi:nil="true"/>
        <AccountType/>
      </UserInfo>
    </zfaj>
    <TaxKeywordTaxHTField xmlns="8fd00c8e-15ef-4933-abb3-2147f4add389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CE8857BF-AF45-4D45-9976-CF6BF49404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3221F3-A3EB-49F7-B1C2-498C63B60EB7}">
  <ds:schemaRefs>
    <ds:schemaRef ds:uri="5fbcf22b-8418-494c-b2af-d1a374be1144"/>
    <ds:schemaRef ds:uri="8fd00c8e-15ef-4933-abb3-2147f4add389"/>
    <ds:schemaRef ds:uri="bdeb7b8f-4c7a-4680-94fe-77cbe8310f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05A1CAE-0405-4910-98FE-5990882C137C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dcmitype/"/>
    <ds:schemaRef ds:uri="8fd00c8e-15ef-4933-abb3-2147f4add389"/>
    <ds:schemaRef ds:uri="bdeb7b8f-4c7a-4680-94fe-77cbe8310f20"/>
    <ds:schemaRef ds:uri="5fbcf22b-8418-494c-b2af-d1a374be1144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601</Words>
  <Application>Microsoft Office PowerPoint</Application>
  <PresentationFormat>Breitbild</PresentationFormat>
  <Paragraphs>183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Frutiger LT Com 75 Black</vt:lpstr>
      <vt:lpstr>Arial</vt:lpstr>
      <vt:lpstr>Calibri</vt:lpstr>
      <vt:lpstr>Consolas</vt:lpstr>
      <vt:lpstr>Montserrat Medium</vt:lpstr>
      <vt:lpstr>Tahoma</vt:lpstr>
      <vt:lpstr>Wingdings</vt:lpstr>
      <vt:lpstr>FSTI 2024</vt:lpstr>
      <vt:lpstr>PowerPoint-Präsentation</vt:lpstr>
      <vt:lpstr>The job extends beyond the vehicle</vt:lpstr>
      <vt:lpstr>BYOD in a commercial vehicle</vt:lpstr>
      <vt:lpstr>The Challenge</vt:lpstr>
      <vt:lpstr>Three starting points for your idea</vt:lpstr>
      <vt:lpstr>A complete device-to-vehicle loop</vt:lpstr>
      <vt:lpstr>Your technical starting point</vt:lpstr>
      <vt:lpstr>Building with digital.auto</vt:lpstr>
      <vt:lpstr>Beyond the reference camera</vt:lpstr>
      <vt:lpstr>What teams should bring back</vt:lpstr>
      <vt:lpstr>What makes a strong outcome</vt:lpstr>
      <vt:lpstr>What would you connect?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tanja.wuerthner@ferdinand-steinbeis-institut.de</dc:creator>
  <cp:lastModifiedBy>Cheng, Chris - Ferdinand-Steinbeis-Institut</cp:lastModifiedBy>
  <cp:revision>73</cp:revision>
  <dcterms:created xsi:type="dcterms:W3CDTF">2020-05-04T12:23:22Z</dcterms:created>
  <dcterms:modified xsi:type="dcterms:W3CDTF">2026-09-14T20:03:44Z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0x010100AEA54A360D3500438B391A390F645006</vt:lpwstr>
  </property>
  <property fmtid="{D5CDD505-2E9C-101B-9397-08002B2CF9AE}" pid="3" name="MediaServiceImageTags">
    <vt:lpwstr/>
  </property>
  <property fmtid="{D5CDD505-2E9C-101B-9397-08002B2CF9AE}" pid="4" name="TaxKeyword">
    <vt:lpwstr>2083;#Präsi|5aef92af-3bcb-4926-9284-40cba9e2ba7f;#1011;#Vorlagen|f9fcd4e6-2314-4816-8f1c-4fcce3312d0d;#8385;#Folien Template|d2b00c83-3822-446f-b6bc-8f1bb7d242e7;#8386;#Vorstellung FSTI|9d828093-4d2d-490f-a14c-185053a59927;#8419;#ppt|90317652-2723-47fe-8de9-9ac7b1b993b1;#8420;#Intro|19b148ad-9e08-4ac6-bf15-1f4e29098e65</vt:lpwstr>
  </property>
</Properties>
</file>